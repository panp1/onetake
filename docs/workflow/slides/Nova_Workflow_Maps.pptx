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7185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41F648-4871-F75B-FC7D-C698F99BED2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4508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1" y="127000"/>
            <a:ext cx="4625017" cy="3525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 Process — End-to-End Flow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541853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Recruiter submits request</a:t>
            </a:r>
            <a:endParaRPr lang="en-US" sz="1010" dirty="0"/>
          </a:p>
        </p:txBody>
      </p:sp>
      <p:sp>
        <p:nvSpPr>
          <p:cNvPr id="5" name="Text 2"/>
          <p:cNvSpPr/>
          <p:nvPr/>
        </p:nvSpPr>
        <p:spPr>
          <a:xfrm>
            <a:off x="541853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Fills intake wizard with job description, requirements, and budget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541853" y="1478756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Request enters the system</a:t>
            </a:r>
            <a:endParaRPr lang="en-US" sz="710" dirty="0"/>
          </a:p>
        </p:txBody>
      </p:sp>
      <p:sp>
        <p:nvSpPr>
          <p:cNvPr id="7" name="Text 4"/>
          <p:cNvSpPr/>
          <p:nvPr/>
        </p:nvSpPr>
        <p:spPr>
          <a:xfrm>
            <a:off x="3166454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generates campaign</a:t>
            </a:r>
            <a:endParaRPr lang="en-US" sz="1010" dirty="0"/>
          </a:p>
        </p:txBody>
      </p:sp>
      <p:sp>
        <p:nvSpPr>
          <p:cNvPr id="8" name="Text 5"/>
          <p:cNvSpPr/>
          <p:nvPr/>
        </p:nvSpPr>
        <p:spPr>
          <a:xfrm>
            <a:off x="3166454" y="1167342"/>
            <a:ext cx="2020437" cy="46407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6-stage AI pipeline runs automatically — personas, images, copy, creatives, video, landing pages</a:t>
            </a:r>
            <a:endParaRPr lang="en-US" sz="830" dirty="0"/>
          </a:p>
        </p:txBody>
      </p:sp>
      <p:sp>
        <p:nvSpPr>
          <p:cNvPr id="9" name="Text 6"/>
          <p:cNvSpPr/>
          <p:nvPr/>
        </p:nvSpPr>
        <p:spPr>
          <a:xfrm>
            <a:off x="3162947" y="1696647"/>
            <a:ext cx="2020437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⏱ ~15–30 minutes</a:t>
            </a:r>
            <a:endParaRPr lang="en-US" sz="710" dirty="0"/>
          </a:p>
        </p:txBody>
      </p:sp>
      <p:sp>
        <p:nvSpPr>
          <p:cNvPr id="10" name="Text 7"/>
          <p:cNvSpPr/>
          <p:nvPr/>
        </p:nvSpPr>
        <p:spPr>
          <a:xfrm>
            <a:off x="5791055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review &amp; guidance</a:t>
            </a:r>
            <a:endParaRPr lang="en-US" sz="1010" dirty="0"/>
          </a:p>
        </p:txBody>
      </p:sp>
      <p:sp>
        <p:nvSpPr>
          <p:cNvPr id="11" name="Text 8"/>
          <p:cNvSpPr/>
          <p:nvPr/>
        </p:nvSpPr>
        <p:spPr>
          <a:xfrm>
            <a:off x="5791055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Manager reviews output</a:t>
            </a:r>
            <a:endParaRPr lang="en-US" sz="830" dirty="0"/>
          </a:p>
        </p:txBody>
      </p:sp>
      <p:sp>
        <p:nvSpPr>
          <p:cNvPr id="12" name="Text 9"/>
          <p:cNvSpPr/>
          <p:nvPr/>
        </p:nvSpPr>
        <p:spPr>
          <a:xfrm>
            <a:off x="5791055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media strategy</a:t>
            </a:r>
            <a:endParaRPr lang="en-US" sz="790" dirty="0"/>
          </a:p>
        </p:txBody>
      </p:sp>
      <p:sp>
        <p:nvSpPr>
          <p:cNvPr id="13" name="Text 10"/>
          <p:cNvSpPr/>
          <p:nvPr/>
        </p:nvSpPr>
        <p:spPr>
          <a:xfrm>
            <a:off x="5791055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Adjust budgets &amp; targeting</a:t>
            </a:r>
            <a:endParaRPr lang="en-US" sz="790" dirty="0"/>
          </a:p>
        </p:txBody>
      </p:sp>
      <p:sp>
        <p:nvSpPr>
          <p:cNvPr id="14" name="Text 11"/>
          <p:cNvSpPr/>
          <p:nvPr/>
        </p:nvSpPr>
        <p:spPr>
          <a:xfrm>
            <a:off x="5791055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Review ad copy</a:t>
            </a:r>
            <a:endParaRPr lang="en-US" sz="790" dirty="0"/>
          </a:p>
        </p:txBody>
      </p:sp>
      <p:sp>
        <p:nvSpPr>
          <p:cNvPr id="15" name="Text 12"/>
          <p:cNvSpPr/>
          <p:nvPr/>
        </p:nvSpPr>
        <p:spPr>
          <a:xfrm>
            <a:off x="8415656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approves for design</a:t>
            </a:r>
            <a:endParaRPr lang="en-US" sz="1010" dirty="0"/>
          </a:p>
        </p:txBody>
      </p:sp>
      <p:sp>
        <p:nvSpPr>
          <p:cNvPr id="16" name="Text 13"/>
          <p:cNvSpPr/>
          <p:nvPr/>
        </p:nvSpPr>
        <p:spPr>
          <a:xfrm>
            <a:off x="8415656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approval gate — sends to designer for creative polish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8415656" y="1586404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Teams + Outlook to Designer</a:t>
            </a:r>
            <a:endParaRPr lang="en-US" sz="710" dirty="0"/>
          </a:p>
        </p:txBody>
      </p:sp>
      <p:sp>
        <p:nvSpPr>
          <p:cNvPr id="18" name="Text 15"/>
          <p:cNvSpPr/>
          <p:nvPr/>
        </p:nvSpPr>
        <p:spPr>
          <a:xfrm>
            <a:off x="5860265" y="1809817"/>
            <a:ext cx="1700563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i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changes needed → regenerate pipeline.</a:t>
            </a:r>
            <a:endParaRPr lang="en-US" sz="710" dirty="0"/>
          </a:p>
        </p:txBody>
      </p:sp>
      <p:sp>
        <p:nvSpPr>
          <p:cNvPr id="19" name="Text 16"/>
          <p:cNvSpPr/>
          <p:nvPr/>
        </p:nvSpPr>
        <p:spPr>
          <a:xfrm>
            <a:off x="8415656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Designer reviews creatives</a:t>
            </a:r>
            <a:endParaRPr lang="en-US" sz="1010" dirty="0"/>
          </a:p>
        </p:txBody>
      </p:sp>
      <p:sp>
        <p:nvSpPr>
          <p:cNvPr id="20" name="Text 17"/>
          <p:cNvSpPr/>
          <p:nvPr/>
        </p:nvSpPr>
        <p:spPr>
          <a:xfrm>
            <a:off x="8415656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Opens gallery per persona</a:t>
            </a:r>
            <a:endParaRPr lang="en-US" sz="830" dirty="0"/>
          </a:p>
        </p:txBody>
      </p:sp>
      <p:sp>
        <p:nvSpPr>
          <p:cNvPr id="21" name="Text 18"/>
          <p:cNvSpPr/>
          <p:nvPr/>
        </p:nvSpPr>
        <p:spPr>
          <a:xfrm>
            <a:off x="8415656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Review all versions &amp; formats</a:t>
            </a:r>
            <a:endParaRPr lang="en-US" sz="790" dirty="0"/>
          </a:p>
        </p:txBody>
      </p:sp>
      <p:sp>
        <p:nvSpPr>
          <p:cNvPr id="22" name="Text 19"/>
          <p:cNvSpPr/>
          <p:nvPr/>
        </p:nvSpPr>
        <p:spPr>
          <a:xfrm>
            <a:off x="8415656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Check VQA quality scores</a:t>
            </a:r>
            <a:endParaRPr lang="en-US" sz="790" dirty="0"/>
          </a:p>
        </p:txBody>
      </p:sp>
      <p:sp>
        <p:nvSpPr>
          <p:cNvPr id="23" name="Text 20"/>
          <p:cNvSpPr/>
          <p:nvPr/>
        </p:nvSpPr>
        <p:spPr>
          <a:xfrm>
            <a:off x="8415656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Lightbox fullscreen preview</a:t>
            </a:r>
            <a:endParaRPr lang="en-US" sz="790" dirty="0"/>
          </a:p>
        </p:txBody>
      </p:sp>
      <p:sp>
        <p:nvSpPr>
          <p:cNvPr id="24" name="Text 21"/>
          <p:cNvSpPr/>
          <p:nvPr/>
        </p:nvSpPr>
        <p:spPr>
          <a:xfrm>
            <a:off x="5791055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Designer edits &amp; polishes</a:t>
            </a:r>
            <a:endParaRPr lang="en-US" sz="1010" dirty="0"/>
          </a:p>
        </p:txBody>
      </p:sp>
      <p:sp>
        <p:nvSpPr>
          <p:cNvPr id="25" name="Text 22"/>
          <p:cNvSpPr/>
          <p:nvPr/>
        </p:nvSpPr>
        <p:spPr>
          <a:xfrm>
            <a:off x="5791055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Miguel creates</a:t>
            </a:r>
            <a:endParaRPr lang="en-US" sz="830" dirty="0"/>
          </a:p>
        </p:txBody>
      </p:sp>
      <p:sp>
        <p:nvSpPr>
          <p:cNvPr id="26" name="Text 23"/>
          <p:cNvSpPr/>
          <p:nvPr/>
        </p:nvSpPr>
        <p:spPr>
          <a:xfrm>
            <a:off x="5791055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Quick retouch (Flux 2)</a:t>
            </a:r>
            <a:endParaRPr lang="en-US" sz="790" dirty="0"/>
          </a:p>
        </p:txBody>
      </p:sp>
      <p:sp>
        <p:nvSpPr>
          <p:cNvPr id="27" name="Text 24"/>
          <p:cNvSpPr/>
          <p:nvPr/>
        </p:nvSpPr>
        <p:spPr>
          <a:xfrm>
            <a:off x="5791055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Graphic overlay edits</a:t>
            </a:r>
            <a:endParaRPr lang="en-US" sz="790" dirty="0"/>
          </a:p>
        </p:txBody>
      </p:sp>
      <p:sp>
        <p:nvSpPr>
          <p:cNvPr id="28" name="Text 25"/>
          <p:cNvSpPr/>
          <p:nvPr/>
        </p:nvSpPr>
        <p:spPr>
          <a:xfrm>
            <a:off x="5791055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Figma export &amp; push</a:t>
            </a:r>
            <a:endParaRPr lang="en-US" sz="790" dirty="0"/>
          </a:p>
        </p:txBody>
      </p:sp>
      <p:sp>
        <p:nvSpPr>
          <p:cNvPr id="29" name="Text 26"/>
          <p:cNvSpPr/>
          <p:nvPr/>
        </p:nvSpPr>
        <p:spPr>
          <a:xfrm>
            <a:off x="3166454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Designer submits finals</a:t>
            </a:r>
            <a:endParaRPr lang="en-US" sz="1010" dirty="0"/>
          </a:p>
        </p:txBody>
      </p:sp>
      <p:sp>
        <p:nvSpPr>
          <p:cNvPr id="30" name="Text 27"/>
          <p:cNvSpPr/>
          <p:nvPr/>
        </p:nvSpPr>
        <p:spPr>
          <a:xfrm>
            <a:off x="3166454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Creatives marked as ready for final review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3162946" y="3170314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Teams + Outlook to Marketing</a:t>
            </a:r>
            <a:endParaRPr lang="en-US" sz="710" dirty="0"/>
          </a:p>
        </p:txBody>
      </p:sp>
      <p:sp>
        <p:nvSpPr>
          <p:cNvPr id="32" name="Text 29"/>
          <p:cNvSpPr/>
          <p:nvPr/>
        </p:nvSpPr>
        <p:spPr>
          <a:xfrm>
            <a:off x="541853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final approval</a:t>
            </a:r>
            <a:endParaRPr lang="en-US" sz="1010" dirty="0"/>
          </a:p>
        </p:txBody>
      </p:sp>
      <p:sp>
        <p:nvSpPr>
          <p:cNvPr id="33" name="Text 30"/>
          <p:cNvSpPr/>
          <p:nvPr/>
        </p:nvSpPr>
        <p:spPr>
          <a:xfrm>
            <a:off x="541853" y="2860675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Reviews designer's polished creatives and signs off</a:t>
            </a:r>
            <a:endParaRPr lang="en-US" sz="830" dirty="0"/>
          </a:p>
        </p:txBody>
      </p:sp>
      <p:sp>
        <p:nvSpPr>
          <p:cNvPr id="34" name="Text 31"/>
          <p:cNvSpPr/>
          <p:nvPr/>
        </p:nvSpPr>
        <p:spPr>
          <a:xfrm>
            <a:off x="541852" y="3250401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Campaign approved</a:t>
            </a:r>
            <a:endParaRPr lang="en-US" sz="710" dirty="0"/>
          </a:p>
        </p:txBody>
      </p:sp>
      <p:sp>
        <p:nvSpPr>
          <p:cNvPr id="35" name="Text 32"/>
          <p:cNvSpPr/>
          <p:nvPr/>
        </p:nvSpPr>
        <p:spPr>
          <a:xfrm>
            <a:off x="372524" y="3894667"/>
            <a:ext cx="1564836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i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revision needed → back to designer.</a:t>
            </a:r>
            <a:endParaRPr lang="en-US" sz="710" dirty="0"/>
          </a:p>
        </p:txBody>
      </p:sp>
      <p:sp>
        <p:nvSpPr>
          <p:cNvPr id="36" name="Text 33"/>
          <p:cNvSpPr/>
          <p:nvPr/>
        </p:nvSpPr>
        <p:spPr>
          <a:xfrm>
            <a:off x="541853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Notifications sent</a:t>
            </a:r>
            <a:endParaRPr lang="en-US" sz="1010" dirty="0"/>
          </a:p>
        </p:txBody>
      </p:sp>
      <p:sp>
        <p:nvSpPr>
          <p:cNvPr id="37" name="Text 34"/>
          <p:cNvSpPr/>
          <p:nvPr/>
        </p:nvSpPr>
        <p:spPr>
          <a:xfrm>
            <a:off x="541853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Teams + Outlook email to Recruiter and Agency contact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541853" y="4865423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Campaign live &amp; delivered</a:t>
            </a:r>
            <a:endParaRPr lang="en-US" sz="710" dirty="0"/>
          </a:p>
        </p:txBody>
      </p:sp>
      <p:sp>
        <p:nvSpPr>
          <p:cNvPr id="39" name="Text 36"/>
          <p:cNvSpPr/>
          <p:nvPr/>
        </p:nvSpPr>
        <p:spPr>
          <a:xfrm>
            <a:off x="3166454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Recruiter accesses library</a:t>
            </a:r>
            <a:endParaRPr lang="en-US" sz="1010" dirty="0"/>
          </a:p>
        </p:txBody>
      </p:sp>
      <p:sp>
        <p:nvSpPr>
          <p:cNvPr id="40" name="Text 37"/>
          <p:cNvSpPr/>
          <p:nvPr/>
        </p:nvSpPr>
        <p:spPr>
          <a:xfrm>
            <a:off x="3166454" y="4554008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Creative library is live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3166454" y="4718182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View composed creatives</a:t>
            </a:r>
            <a:endParaRPr lang="en-US" sz="790" dirty="0"/>
          </a:p>
        </p:txBody>
      </p:sp>
      <p:sp>
        <p:nvSpPr>
          <p:cNvPr id="42" name="Text 39"/>
          <p:cNvSpPr/>
          <p:nvPr/>
        </p:nvSpPr>
        <p:spPr>
          <a:xfrm>
            <a:off x="3166454" y="4855898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UTM tracked links</a:t>
            </a:r>
            <a:endParaRPr lang="en-US" sz="790" dirty="0"/>
          </a:p>
        </p:txBody>
      </p:sp>
      <p:sp>
        <p:nvSpPr>
          <p:cNvPr id="43" name="Text 40"/>
          <p:cNvSpPr/>
          <p:nvPr/>
        </p:nvSpPr>
        <p:spPr>
          <a:xfrm>
            <a:off x="3166454" y="4993614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 with candidates</a:t>
            </a:r>
            <a:endParaRPr lang="en-US" sz="790" dirty="0"/>
          </a:p>
        </p:txBody>
      </p:sp>
      <p:sp>
        <p:nvSpPr>
          <p:cNvPr id="44" name="Text 41"/>
          <p:cNvSpPr/>
          <p:nvPr/>
        </p:nvSpPr>
        <p:spPr>
          <a:xfrm>
            <a:off x="5791055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sends to agency</a:t>
            </a:r>
            <a:endParaRPr lang="en-US" sz="1010" dirty="0"/>
          </a:p>
        </p:txBody>
      </p:sp>
      <p:sp>
        <p:nvSpPr>
          <p:cNvPr id="45" name="Text 42"/>
          <p:cNvSpPr/>
          <p:nvPr/>
        </p:nvSpPr>
        <p:spPr>
          <a:xfrm>
            <a:off x="5791055" y="4554008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Generates magic link for paid media team</a:t>
            </a:r>
            <a:endParaRPr lang="en-US" sz="830" dirty="0"/>
          </a:p>
        </p:txBody>
      </p:sp>
      <p:sp>
        <p:nvSpPr>
          <p:cNvPr id="46" name="Text 43"/>
          <p:cNvSpPr/>
          <p:nvPr/>
        </p:nvSpPr>
        <p:spPr>
          <a:xfrm>
            <a:off x="5791055" y="4735116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🔗 Magic link generated</a:t>
            </a:r>
            <a:endParaRPr lang="en-US" sz="710" dirty="0"/>
          </a:p>
        </p:txBody>
      </p:sp>
      <p:sp>
        <p:nvSpPr>
          <p:cNvPr id="47" name="Text 44"/>
          <p:cNvSpPr/>
          <p:nvPr/>
        </p:nvSpPr>
        <p:spPr>
          <a:xfrm>
            <a:off x="8415656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Agency launches campaigns</a:t>
            </a:r>
            <a:endParaRPr lang="en-US" sz="1010" dirty="0"/>
          </a:p>
        </p:txBody>
      </p:sp>
      <p:sp>
        <p:nvSpPr>
          <p:cNvPr id="48" name="Text 45"/>
          <p:cNvSpPr/>
          <p:nvPr/>
        </p:nvSpPr>
        <p:spPr>
          <a:xfrm>
            <a:off x="8415656" y="4554008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Opens magic link portal</a:t>
            </a:r>
            <a:endParaRPr lang="en-US" sz="830" dirty="0"/>
          </a:p>
        </p:txBody>
      </p:sp>
      <p:sp>
        <p:nvSpPr>
          <p:cNvPr id="49" name="Text 46"/>
          <p:cNvSpPr/>
          <p:nvPr/>
        </p:nvSpPr>
        <p:spPr>
          <a:xfrm>
            <a:off x="8415656" y="4718182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Downloads all creatives</a:t>
            </a:r>
            <a:endParaRPr lang="en-US" sz="790" dirty="0"/>
          </a:p>
        </p:txBody>
      </p:sp>
      <p:sp>
        <p:nvSpPr>
          <p:cNvPr id="50" name="Text 47"/>
          <p:cNvSpPr/>
          <p:nvPr/>
        </p:nvSpPr>
        <p:spPr>
          <a:xfrm>
            <a:off x="8415656" y="4855898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Gets targeting &amp; ad copy</a:t>
            </a:r>
            <a:endParaRPr lang="en-US" sz="790" dirty="0"/>
          </a:p>
        </p:txBody>
      </p:sp>
      <p:sp>
        <p:nvSpPr>
          <p:cNvPr id="51" name="Text 48"/>
          <p:cNvSpPr/>
          <p:nvPr/>
        </p:nvSpPr>
        <p:spPr>
          <a:xfrm>
            <a:off x="8415656" y="4993614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Gets landing page URLs</a:t>
            </a:r>
            <a:endParaRPr lang="en-US" sz="790" dirty="0"/>
          </a:p>
        </p:txBody>
      </p:sp>
      <p:sp>
        <p:nvSpPr>
          <p:cNvPr id="52" name="Text 49"/>
          <p:cNvSpPr/>
          <p:nvPr/>
        </p:nvSpPr>
        <p:spPr>
          <a:xfrm>
            <a:off x="372524" y="6637867"/>
            <a:ext cx="1083835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Recruiter / Designer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1552536" y="6637867"/>
            <a:ext cx="1056848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Manager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2705562" y="6637867"/>
            <a:ext cx="1008166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 / Gate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3809905" y="6637867"/>
            <a:ext cx="551374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Agency</a:t>
            </a:r>
            <a:endParaRPr lang="en-US" sz="750" dirty="0"/>
          </a:p>
        </p:txBody>
      </p:sp>
      <p:sp>
        <p:nvSpPr>
          <p:cNvPr id="56" name="Text 53"/>
          <p:cNvSpPr/>
          <p:nvPr/>
        </p:nvSpPr>
        <p:spPr>
          <a:xfrm>
            <a:off x="10343891" y="6637867"/>
            <a:ext cx="1616163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dirty="0">
                <a:solidFill>
                  <a:srgbClr val="B0B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Creative Operations · OneForma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1" y="127000"/>
            <a:ext cx="2657069" cy="3525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Recruiter Workflow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541853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Receive job description</a:t>
            </a:r>
            <a:endParaRPr lang="en-US" sz="1010" dirty="0"/>
          </a:p>
        </p:txBody>
      </p:sp>
      <p:sp>
        <p:nvSpPr>
          <p:cNvPr id="5" name="Text 2"/>
          <p:cNvSpPr/>
          <p:nvPr/>
        </p:nvSpPr>
        <p:spPr>
          <a:xfrm>
            <a:off x="541853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Recruiter gets JD or RFP from hiring team — ready to submit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3166454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or paste RFP</a:t>
            </a:r>
            <a:endParaRPr lang="en-US" sz="1010" dirty="0"/>
          </a:p>
        </p:txBody>
      </p:sp>
      <p:sp>
        <p:nvSpPr>
          <p:cNvPr id="7" name="Text 4"/>
          <p:cNvSpPr/>
          <p:nvPr/>
        </p:nvSpPr>
        <p:spPr>
          <a:xfrm>
            <a:off x="3166454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Step 1 of intake wizard — AI extracts task type, regions, qualifications automatically</a:t>
            </a:r>
            <a:endParaRPr lang="en-US" sz="830" dirty="0"/>
          </a:p>
        </p:txBody>
      </p:sp>
      <p:sp>
        <p:nvSpPr>
          <p:cNvPr id="8" name="Text 5"/>
          <p:cNvSpPr/>
          <p:nvPr/>
        </p:nvSpPr>
        <p:spPr>
          <a:xfrm>
            <a:off x="3166454" y="1478756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 skip → manual entry</a:t>
            </a:r>
            <a:endParaRPr lang="en-US" sz="710" dirty="0"/>
          </a:p>
        </p:txBody>
      </p:sp>
      <p:sp>
        <p:nvSpPr>
          <p:cNvPr id="9" name="Text 6"/>
          <p:cNvSpPr/>
          <p:nvPr/>
        </p:nvSpPr>
        <p:spPr>
          <a:xfrm>
            <a:off x="5791055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Fill project details</a:t>
            </a:r>
            <a:endParaRPr lang="en-US" sz="1010" dirty="0"/>
          </a:p>
        </p:txBody>
      </p:sp>
      <p:sp>
        <p:nvSpPr>
          <p:cNvPr id="10" name="Text 7"/>
          <p:cNvSpPr/>
          <p:nvPr/>
        </p:nvSpPr>
        <p:spPr>
          <a:xfrm>
            <a:off x="5791055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Steps 2-4 of wizard</a:t>
            </a:r>
            <a:endParaRPr lang="en-US" sz="830" dirty="0"/>
          </a:p>
        </p:txBody>
      </p:sp>
      <p:sp>
        <p:nvSpPr>
          <p:cNvPr id="11" name="Text 8"/>
          <p:cNvSpPr/>
          <p:nvPr/>
        </p:nvSpPr>
        <p:spPr>
          <a:xfrm>
            <a:off x="5791055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Task type &amp; work mode</a:t>
            </a:r>
            <a:endParaRPr lang="en-US" sz="790" dirty="0"/>
          </a:p>
        </p:txBody>
      </p:sp>
      <p:sp>
        <p:nvSpPr>
          <p:cNvPr id="12" name="Text 9"/>
          <p:cNvSpPr/>
          <p:nvPr/>
        </p:nvSpPr>
        <p:spPr>
          <a:xfrm>
            <a:off x="5791055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Title, volume, regions</a:t>
            </a:r>
            <a:endParaRPr lang="en-US" sz="790" dirty="0"/>
          </a:p>
        </p:txBody>
      </p:sp>
      <p:sp>
        <p:nvSpPr>
          <p:cNvPr id="13" name="Text 10"/>
          <p:cNvSpPr/>
          <p:nvPr/>
        </p:nvSpPr>
        <p:spPr>
          <a:xfrm>
            <a:off x="5791055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Qualifications &amp; AIDA form</a:t>
            </a:r>
            <a:endParaRPr lang="en-US" sz="790" dirty="0"/>
          </a:p>
        </p:txBody>
      </p:sp>
      <p:sp>
        <p:nvSpPr>
          <p:cNvPr id="14" name="Text 11"/>
          <p:cNvSpPr/>
          <p:nvPr/>
        </p:nvSpPr>
        <p:spPr>
          <a:xfrm>
            <a:off x="8415656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Review &amp; submit</a:t>
            </a:r>
            <a:endParaRPr lang="en-US" sz="1010" dirty="0"/>
          </a:p>
        </p:txBody>
      </p:sp>
      <p:sp>
        <p:nvSpPr>
          <p:cNvPr id="15" name="Text 12"/>
          <p:cNvSpPr/>
          <p:nvPr/>
        </p:nvSpPr>
        <p:spPr>
          <a:xfrm>
            <a:off x="8415656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Step 5 — verify all fields, click Submit Request</a:t>
            </a:r>
            <a:endParaRPr lang="en-US" sz="830" dirty="0"/>
          </a:p>
        </p:txBody>
      </p:sp>
      <p:sp>
        <p:nvSpPr>
          <p:cNvPr id="16" name="Text 13"/>
          <p:cNvSpPr/>
          <p:nvPr/>
        </p:nvSpPr>
        <p:spPr>
          <a:xfrm>
            <a:off x="8415656" y="1478756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Request created → status: draft</a:t>
            </a:r>
            <a:endParaRPr lang="en-US" sz="710" dirty="0"/>
          </a:p>
        </p:txBody>
      </p:sp>
      <p:sp>
        <p:nvSpPr>
          <p:cNvPr id="17" name="Text 14"/>
          <p:cNvSpPr/>
          <p:nvPr/>
        </p:nvSpPr>
        <p:spPr>
          <a:xfrm>
            <a:off x="8415656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Pipeline auto-generates</a:t>
            </a:r>
            <a:endParaRPr lang="en-US" sz="1010" dirty="0"/>
          </a:p>
        </p:txBody>
      </p:sp>
      <p:sp>
        <p:nvSpPr>
          <p:cNvPr id="18" name="Text 15"/>
          <p:cNvSpPr/>
          <p:nvPr/>
        </p:nvSpPr>
        <p:spPr>
          <a:xfrm>
            <a:off x="8415656" y="2860675"/>
            <a:ext cx="2020437" cy="46407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6-stage AI pipeline runs — personas, images, copy, creatives, video, landing pages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8415656" y="3302397"/>
            <a:ext cx="2020437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⏱ ~15–30 minutes</a:t>
            </a:r>
            <a:endParaRPr lang="en-US" sz="710" dirty="0"/>
          </a:p>
        </p:txBody>
      </p:sp>
      <p:sp>
        <p:nvSpPr>
          <p:cNvPr id="20" name="Text 17"/>
          <p:cNvSpPr/>
          <p:nvPr/>
        </p:nvSpPr>
        <p:spPr>
          <a:xfrm>
            <a:off x="5791055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 received</a:t>
            </a:r>
            <a:endParaRPr lang="en-US" sz="1010" dirty="0"/>
          </a:p>
        </p:txBody>
      </p:sp>
      <p:sp>
        <p:nvSpPr>
          <p:cNvPr id="21" name="Text 18"/>
          <p:cNvSpPr/>
          <p:nvPr/>
        </p:nvSpPr>
        <p:spPr>
          <a:xfrm>
            <a:off x="5791055" y="2860675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Teams + Outlook email: "Your campaign creatives are ready for review"</a:t>
            </a:r>
            <a:endParaRPr lang="en-US" sz="830" dirty="0"/>
          </a:p>
        </p:txBody>
      </p:sp>
      <p:sp>
        <p:nvSpPr>
          <p:cNvPr id="22" name="Text 19"/>
          <p:cNvSpPr/>
          <p:nvPr/>
        </p:nvSpPr>
        <p:spPr>
          <a:xfrm>
            <a:off x="5791055" y="3172090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Teams + Outlook</a:t>
            </a:r>
            <a:endParaRPr lang="en-US" sz="710" dirty="0"/>
          </a:p>
        </p:txBody>
      </p:sp>
      <p:sp>
        <p:nvSpPr>
          <p:cNvPr id="23" name="Text 20"/>
          <p:cNvSpPr/>
          <p:nvPr/>
        </p:nvSpPr>
        <p:spPr>
          <a:xfrm>
            <a:off x="3166454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Creative Library</a:t>
            </a:r>
            <a:endParaRPr lang="en-US" sz="1010" dirty="0"/>
          </a:p>
        </p:txBody>
      </p:sp>
      <p:sp>
        <p:nvSpPr>
          <p:cNvPr id="24" name="Text 21"/>
          <p:cNvSpPr/>
          <p:nvPr/>
        </p:nvSpPr>
        <p:spPr>
          <a:xfrm>
            <a:off x="3166454" y="2860675"/>
            <a:ext cx="2020437" cy="46407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View all composed creatives filtered by channel tabs — Meta, LinkedIn, TikTok, Google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541853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UTM tracked links</a:t>
            </a:r>
            <a:endParaRPr lang="en-US" sz="1010" dirty="0"/>
          </a:p>
        </p:txBody>
      </p:sp>
      <p:sp>
        <p:nvSpPr>
          <p:cNvPr id="26" name="Text 23"/>
          <p:cNvSpPr/>
          <p:nvPr/>
        </p:nvSpPr>
        <p:spPr>
          <a:xfrm>
            <a:off x="541853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Sticky Link Builder panel</a:t>
            </a:r>
            <a:endParaRPr lang="en-US" sz="830" dirty="0"/>
          </a:p>
        </p:txBody>
      </p:sp>
      <p:sp>
        <p:nvSpPr>
          <p:cNvPr id="27" name="Text 24"/>
          <p:cNvSpPr/>
          <p:nvPr/>
        </p:nvSpPr>
        <p:spPr>
          <a:xfrm>
            <a:off x="541853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Select base URL</a:t>
            </a:r>
            <a:endParaRPr lang="en-US" sz="790" dirty="0"/>
          </a:p>
        </p:txBody>
      </p:sp>
      <p:sp>
        <p:nvSpPr>
          <p:cNvPr id="28" name="Text 25"/>
          <p:cNvSpPr/>
          <p:nvPr/>
        </p:nvSpPr>
        <p:spPr>
          <a:xfrm>
            <a:off x="541853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Auto-generates UTM params</a:t>
            </a:r>
            <a:endParaRPr lang="en-US" sz="790" dirty="0"/>
          </a:p>
        </p:txBody>
      </p:sp>
      <p:sp>
        <p:nvSpPr>
          <p:cNvPr id="29" name="Text 26"/>
          <p:cNvSpPr/>
          <p:nvPr/>
        </p:nvSpPr>
        <p:spPr>
          <a:xfrm>
            <a:off x="541853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Copy short link</a:t>
            </a:r>
            <a:endParaRPr lang="en-US" sz="790" dirty="0"/>
          </a:p>
        </p:txBody>
      </p:sp>
      <p:sp>
        <p:nvSpPr>
          <p:cNvPr id="30" name="Text 27"/>
          <p:cNvSpPr/>
          <p:nvPr/>
        </p:nvSpPr>
        <p:spPr>
          <a:xfrm>
            <a:off x="541853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View landing pages</a:t>
            </a:r>
            <a:endParaRPr lang="en-US" sz="1010" dirty="0"/>
          </a:p>
        </p:txBody>
      </p:sp>
      <p:sp>
        <p:nvSpPr>
          <p:cNvPr id="31" name="Text 28"/>
          <p:cNvSpPr/>
          <p:nvPr/>
        </p:nvSpPr>
        <p:spPr>
          <a:xfrm>
            <a:off x="541853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Per-persona /lp/ URLs available — copy for ad campaign destinations</a:t>
            </a:r>
            <a:endParaRPr lang="en-US" sz="830" dirty="0"/>
          </a:p>
        </p:txBody>
      </p:sp>
      <p:sp>
        <p:nvSpPr>
          <p:cNvPr id="32" name="Text 29"/>
          <p:cNvSpPr/>
          <p:nvPr/>
        </p:nvSpPr>
        <p:spPr>
          <a:xfrm>
            <a:off x="541853" y="4865423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🔗 Landing page URLs</a:t>
            </a:r>
            <a:endParaRPr lang="en-US" sz="710" dirty="0"/>
          </a:p>
        </p:txBody>
      </p:sp>
      <p:sp>
        <p:nvSpPr>
          <p:cNvPr id="33" name="Text 30"/>
          <p:cNvSpPr/>
          <p:nvPr/>
        </p:nvSpPr>
        <p:spPr>
          <a:xfrm>
            <a:off x="3166454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 with candidates</a:t>
            </a:r>
            <a:endParaRPr lang="en-US" sz="1010" dirty="0"/>
          </a:p>
        </p:txBody>
      </p:sp>
      <p:sp>
        <p:nvSpPr>
          <p:cNvPr id="34" name="Text 31"/>
          <p:cNvSpPr/>
          <p:nvPr/>
        </p:nvSpPr>
        <p:spPr>
          <a:xfrm>
            <a:off x="3166454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Distribute tracked links via email, social media, job boards, and direct outreach</a:t>
            </a:r>
            <a:endParaRPr lang="en-US" sz="830" dirty="0"/>
          </a:p>
        </p:txBody>
      </p:sp>
      <p:sp>
        <p:nvSpPr>
          <p:cNvPr id="35" name="Text 32"/>
          <p:cNvSpPr/>
          <p:nvPr/>
        </p:nvSpPr>
        <p:spPr>
          <a:xfrm>
            <a:off x="5791055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Download creatives</a:t>
            </a:r>
            <a:endParaRPr lang="en-US" sz="1010" dirty="0"/>
          </a:p>
        </p:txBody>
      </p:sp>
      <p:sp>
        <p:nvSpPr>
          <p:cNvPr id="36" name="Text 33"/>
          <p:cNvSpPr/>
          <p:nvPr/>
        </p:nvSpPr>
        <p:spPr>
          <a:xfrm>
            <a:off x="5791055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Download individual creatives or batch download for offline use</a:t>
            </a:r>
            <a:endParaRPr lang="en-US" sz="830" dirty="0"/>
          </a:p>
        </p:txBody>
      </p:sp>
      <p:sp>
        <p:nvSpPr>
          <p:cNvPr id="37" name="Text 34"/>
          <p:cNvSpPr/>
          <p:nvPr/>
        </p:nvSpPr>
        <p:spPr>
          <a:xfrm>
            <a:off x="5791055" y="4969732"/>
            <a:ext cx="1772623" cy="3525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i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Recruiter never sees: raw images,strategy editing, designer tools,pipeline stages, or admin panel.</a:t>
            </a:r>
            <a:endParaRPr lang="en-US" sz="710" dirty="0"/>
          </a:p>
        </p:txBody>
      </p:sp>
      <p:sp>
        <p:nvSpPr>
          <p:cNvPr id="38" name="Text 35"/>
          <p:cNvSpPr/>
          <p:nvPr/>
        </p:nvSpPr>
        <p:spPr>
          <a:xfrm>
            <a:off x="372524" y="6637867"/>
            <a:ext cx="915035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Recruiter action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383736" y="6637867"/>
            <a:ext cx="1083835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/ automated</a:t>
            </a:r>
            <a:endParaRPr lang="en-US" sz="750" dirty="0"/>
          </a:p>
        </p:txBody>
      </p:sp>
      <p:sp>
        <p:nvSpPr>
          <p:cNvPr id="40" name="Text 37"/>
          <p:cNvSpPr/>
          <p:nvPr/>
        </p:nvSpPr>
        <p:spPr>
          <a:xfrm>
            <a:off x="2563748" y="6637867"/>
            <a:ext cx="733139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10343891" y="6637867"/>
            <a:ext cx="1616163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dirty="0">
                <a:solidFill>
                  <a:srgbClr val="B0B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Creative Operations · OneForma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1" y="127000"/>
            <a:ext cx="4068425" cy="3525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Manager Workflow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541853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Campaign arrives for review</a:t>
            </a:r>
            <a:endParaRPr lang="en-US" sz="1010" dirty="0"/>
          </a:p>
        </p:txBody>
      </p:sp>
      <p:sp>
        <p:nvSpPr>
          <p:cNvPr id="5" name="Text 2"/>
          <p:cNvSpPr/>
          <p:nvPr/>
        </p:nvSpPr>
        <p:spPr>
          <a:xfrm>
            <a:off x="541853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Request on dashboard with status: review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541853" y="1348449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Teams + Outlook notification</a:t>
            </a:r>
            <a:endParaRPr lang="en-US" sz="710" dirty="0"/>
          </a:p>
        </p:txBody>
      </p:sp>
      <p:sp>
        <p:nvSpPr>
          <p:cNvPr id="7" name="Text 4"/>
          <p:cNvSpPr/>
          <p:nvPr/>
        </p:nvSpPr>
        <p:spPr>
          <a:xfrm>
            <a:off x="3166454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Review campaign brief</a:t>
            </a:r>
            <a:endParaRPr lang="en-US" sz="1010" dirty="0"/>
          </a:p>
        </p:txBody>
      </p:sp>
      <p:sp>
        <p:nvSpPr>
          <p:cNvPr id="8" name="Text 5"/>
          <p:cNvSpPr/>
          <p:nvPr/>
        </p:nvSpPr>
        <p:spPr>
          <a:xfrm>
            <a:off x="3166454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Campaign Workspace — 3 tabs</a:t>
            </a:r>
            <a:endParaRPr lang="en-US" sz="830" dirty="0"/>
          </a:p>
        </p:txBody>
      </p:sp>
      <p:sp>
        <p:nvSpPr>
          <p:cNvPr id="9" name="Text 6"/>
          <p:cNvSpPr/>
          <p:nvPr/>
        </p:nvSpPr>
        <p:spPr>
          <a:xfrm>
            <a:off x="3166454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Messaging strategy</a:t>
            </a:r>
            <a:endParaRPr lang="en-US" sz="790" dirty="0"/>
          </a:p>
        </p:txBody>
      </p:sp>
      <p:sp>
        <p:nvSpPr>
          <p:cNvPr id="10" name="Text 7"/>
          <p:cNvSpPr/>
          <p:nvPr/>
        </p:nvSpPr>
        <p:spPr>
          <a:xfrm>
            <a:off x="3166454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recommendations</a:t>
            </a:r>
            <a:endParaRPr lang="en-US" sz="790" dirty="0"/>
          </a:p>
        </p:txBody>
      </p:sp>
      <p:sp>
        <p:nvSpPr>
          <p:cNvPr id="11" name="Text 8"/>
          <p:cNvSpPr/>
          <p:nvPr/>
        </p:nvSpPr>
        <p:spPr>
          <a:xfrm>
            <a:off x="3166454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 summaries</a:t>
            </a:r>
            <a:endParaRPr lang="en-US" sz="790" dirty="0"/>
          </a:p>
        </p:txBody>
      </p:sp>
      <p:sp>
        <p:nvSpPr>
          <p:cNvPr id="12" name="Text 9"/>
          <p:cNvSpPr/>
          <p:nvPr/>
        </p:nvSpPr>
        <p:spPr>
          <a:xfrm>
            <a:off x="5791055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media strategy</a:t>
            </a:r>
            <a:endParaRPr lang="en-US" sz="1010" dirty="0"/>
          </a:p>
        </p:txBody>
      </p:sp>
      <p:sp>
        <p:nvSpPr>
          <p:cNvPr id="13" name="Text 10"/>
          <p:cNvSpPr/>
          <p:nvPr/>
        </p:nvSpPr>
        <p:spPr>
          <a:xfrm>
            <a:off x="5791055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Inline editing with autosave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5791055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% — auto-rebalance</a:t>
            </a:r>
            <a:endParaRPr lang="en-US" sz="790" dirty="0"/>
          </a:p>
        </p:txBody>
      </p:sp>
      <p:sp>
        <p:nvSpPr>
          <p:cNvPr id="15" name="Text 12"/>
          <p:cNvSpPr/>
          <p:nvPr/>
        </p:nvSpPr>
        <p:spPr>
          <a:xfrm>
            <a:off x="5791055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 set daily budgets</a:t>
            </a:r>
            <a:endParaRPr lang="en-US" sz="790" dirty="0"/>
          </a:p>
        </p:txBody>
      </p:sp>
      <p:sp>
        <p:nvSpPr>
          <p:cNvPr id="16" name="Text 13"/>
          <p:cNvSpPr/>
          <p:nvPr/>
        </p:nvSpPr>
        <p:spPr>
          <a:xfrm>
            <a:off x="5791055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Targeting interests per tier</a:t>
            </a:r>
            <a:endParaRPr lang="en-US" sz="790" dirty="0"/>
          </a:p>
        </p:txBody>
      </p:sp>
      <p:sp>
        <p:nvSpPr>
          <p:cNvPr id="17" name="Text 14"/>
          <p:cNvSpPr/>
          <p:nvPr/>
        </p:nvSpPr>
        <p:spPr>
          <a:xfrm>
            <a:off x="8415656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ad copy &amp; URLs</a:t>
            </a:r>
            <a:endParaRPr lang="en-US" sz="1010" dirty="0"/>
          </a:p>
        </p:txBody>
      </p:sp>
      <p:sp>
        <p:nvSpPr>
          <p:cNvPr id="18" name="Text 15"/>
          <p:cNvSpPr/>
          <p:nvPr/>
        </p:nvSpPr>
        <p:spPr>
          <a:xfrm>
            <a:off x="8415656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Per-persona inline editing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8415656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Headlines, body, CTAs</a:t>
            </a:r>
            <a:endParaRPr lang="en-US" sz="790" dirty="0"/>
          </a:p>
        </p:txBody>
      </p:sp>
      <p:sp>
        <p:nvSpPr>
          <p:cNvPr id="20" name="Text 17"/>
          <p:cNvSpPr/>
          <p:nvPr/>
        </p:nvSpPr>
        <p:spPr>
          <a:xfrm>
            <a:off x="8415656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Landing page URLs</a:t>
            </a:r>
            <a:endParaRPr lang="en-US" sz="790" dirty="0"/>
          </a:p>
        </p:txBody>
      </p:sp>
      <p:sp>
        <p:nvSpPr>
          <p:cNvPr id="21" name="Text 18"/>
          <p:cNvSpPr/>
          <p:nvPr/>
        </p:nvSpPr>
        <p:spPr>
          <a:xfrm>
            <a:off x="8415656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Job posting URL</a:t>
            </a:r>
            <a:endParaRPr lang="en-US" sz="790" dirty="0"/>
          </a:p>
        </p:txBody>
      </p:sp>
      <p:sp>
        <p:nvSpPr>
          <p:cNvPr id="22" name="Text 19"/>
          <p:cNvSpPr/>
          <p:nvPr/>
        </p:nvSpPr>
        <p:spPr>
          <a:xfrm>
            <a:off x="5791054" y="1778529"/>
            <a:ext cx="2020437" cy="191426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i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edits autosave — 800ms debounce PATCH.</a:t>
            </a:r>
            <a:endParaRPr lang="en-US" sz="710" dirty="0"/>
          </a:p>
        </p:txBody>
      </p:sp>
      <p:sp>
        <p:nvSpPr>
          <p:cNvPr id="23" name="Text 20"/>
          <p:cNvSpPr/>
          <p:nvPr/>
        </p:nvSpPr>
        <p:spPr>
          <a:xfrm>
            <a:off x="8415656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Approve for design</a:t>
            </a:r>
            <a:endParaRPr lang="en-US" sz="1010" dirty="0"/>
          </a:p>
        </p:txBody>
      </p:sp>
      <p:sp>
        <p:nvSpPr>
          <p:cNvPr id="24" name="Text 21"/>
          <p:cNvSpPr/>
          <p:nvPr/>
        </p:nvSpPr>
        <p:spPr>
          <a:xfrm>
            <a:off x="8415656" y="2860675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First approval gate — satisfied with AI output and edits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8415656" y="3221365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Teams + Outlook to Designer</a:t>
            </a:r>
            <a:endParaRPr lang="en-US" sz="710" dirty="0"/>
          </a:p>
        </p:txBody>
      </p:sp>
      <p:sp>
        <p:nvSpPr>
          <p:cNvPr id="26" name="Text 23"/>
          <p:cNvSpPr/>
          <p:nvPr/>
        </p:nvSpPr>
        <p:spPr>
          <a:xfrm>
            <a:off x="5791055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Designer polishes creatives</a:t>
            </a:r>
            <a:endParaRPr lang="en-US" sz="1010" dirty="0"/>
          </a:p>
        </p:txBody>
      </p:sp>
      <p:sp>
        <p:nvSpPr>
          <p:cNvPr id="27" name="Text 24"/>
          <p:cNvSpPr/>
          <p:nvPr/>
        </p:nvSpPr>
        <p:spPr>
          <a:xfrm>
            <a:off x="5791055" y="2860675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Manager waits while designer retouches and exports to Figma</a:t>
            </a:r>
            <a:endParaRPr lang="en-US" sz="830" dirty="0"/>
          </a:p>
        </p:txBody>
      </p:sp>
      <p:sp>
        <p:nvSpPr>
          <p:cNvPr id="28" name="Text 25"/>
          <p:cNvSpPr/>
          <p:nvPr/>
        </p:nvSpPr>
        <p:spPr>
          <a:xfrm>
            <a:off x="5791054" y="3233537"/>
            <a:ext cx="2020437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⏱ Designer working</a:t>
            </a:r>
            <a:endParaRPr lang="en-US" sz="710" dirty="0"/>
          </a:p>
        </p:txBody>
      </p:sp>
      <p:sp>
        <p:nvSpPr>
          <p:cNvPr id="29" name="Text 26"/>
          <p:cNvSpPr/>
          <p:nvPr/>
        </p:nvSpPr>
        <p:spPr>
          <a:xfrm>
            <a:off x="3166454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Designer finals submitted</a:t>
            </a:r>
            <a:endParaRPr lang="en-US" sz="1010" dirty="0"/>
          </a:p>
        </p:txBody>
      </p:sp>
      <p:sp>
        <p:nvSpPr>
          <p:cNvPr id="30" name="Text 27"/>
          <p:cNvSpPr/>
          <p:nvPr/>
        </p:nvSpPr>
        <p:spPr>
          <a:xfrm>
            <a:off x="3166454" y="2860675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 received — polished creatives ready for final review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3166453" y="3221365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Teams + Outlook</a:t>
            </a:r>
            <a:endParaRPr lang="en-US" sz="710" dirty="0"/>
          </a:p>
        </p:txBody>
      </p:sp>
      <p:sp>
        <p:nvSpPr>
          <p:cNvPr id="32" name="Text 29"/>
          <p:cNvSpPr/>
          <p:nvPr/>
        </p:nvSpPr>
        <p:spPr>
          <a:xfrm>
            <a:off x="541853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Final approval</a:t>
            </a:r>
            <a:endParaRPr lang="en-US" sz="1010" dirty="0"/>
          </a:p>
        </p:txBody>
      </p:sp>
      <p:sp>
        <p:nvSpPr>
          <p:cNvPr id="33" name="Text 30"/>
          <p:cNvSpPr/>
          <p:nvPr/>
        </p:nvSpPr>
        <p:spPr>
          <a:xfrm>
            <a:off x="541853" y="2860675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Reviews designer's polished creatives — last quality gate</a:t>
            </a:r>
            <a:endParaRPr lang="en-US" sz="830" dirty="0"/>
          </a:p>
        </p:txBody>
      </p:sp>
      <p:sp>
        <p:nvSpPr>
          <p:cNvPr id="34" name="Text 31"/>
          <p:cNvSpPr/>
          <p:nvPr/>
        </p:nvSpPr>
        <p:spPr>
          <a:xfrm>
            <a:off x="541853" y="3172090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Campaign approved</a:t>
            </a:r>
            <a:endParaRPr lang="en-US" sz="710" dirty="0"/>
          </a:p>
        </p:txBody>
      </p:sp>
      <p:sp>
        <p:nvSpPr>
          <p:cNvPr id="35" name="Text 32"/>
          <p:cNvSpPr/>
          <p:nvPr/>
        </p:nvSpPr>
        <p:spPr>
          <a:xfrm>
            <a:off x="541853" y="3346842"/>
            <a:ext cx="1564836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i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revision needed → back to designer.</a:t>
            </a:r>
            <a:endParaRPr lang="en-US" sz="710" dirty="0"/>
          </a:p>
        </p:txBody>
      </p:sp>
      <p:sp>
        <p:nvSpPr>
          <p:cNvPr id="36" name="Text 33"/>
          <p:cNvSpPr/>
          <p:nvPr/>
        </p:nvSpPr>
        <p:spPr>
          <a:xfrm>
            <a:off x="541853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Notifications sent</a:t>
            </a:r>
            <a:endParaRPr lang="en-US" sz="1010" dirty="0"/>
          </a:p>
        </p:txBody>
      </p:sp>
      <p:sp>
        <p:nvSpPr>
          <p:cNvPr id="37" name="Text 34"/>
          <p:cNvSpPr/>
          <p:nvPr/>
        </p:nvSpPr>
        <p:spPr>
          <a:xfrm>
            <a:off x="541853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Teams + Outlook to Recruiter ("campaign live") and Agency contact</a:t>
            </a:r>
            <a:endParaRPr lang="en-US" sz="830" dirty="0"/>
          </a:p>
        </p:txBody>
      </p:sp>
      <p:sp>
        <p:nvSpPr>
          <p:cNvPr id="38" name="Text 35"/>
          <p:cNvSpPr/>
          <p:nvPr/>
        </p:nvSpPr>
        <p:spPr>
          <a:xfrm>
            <a:off x="541852" y="4934701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Campaign approved &amp; live</a:t>
            </a:r>
            <a:endParaRPr lang="en-US" sz="710" dirty="0"/>
          </a:p>
        </p:txBody>
      </p:sp>
      <p:sp>
        <p:nvSpPr>
          <p:cNvPr id="39" name="Text 36"/>
          <p:cNvSpPr/>
          <p:nvPr/>
        </p:nvSpPr>
        <p:spPr>
          <a:xfrm>
            <a:off x="3166454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 agency magic link</a:t>
            </a:r>
            <a:endParaRPr lang="en-US" sz="1010" dirty="0"/>
          </a:p>
        </p:txBody>
      </p:sp>
      <p:sp>
        <p:nvSpPr>
          <p:cNvPr id="40" name="Text 37"/>
          <p:cNvSpPr/>
          <p:nvPr/>
        </p:nvSpPr>
        <p:spPr>
          <a:xfrm>
            <a:off x="3166454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Auto-creates authenticated portal URL for paid media agency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3166452" y="4934701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🔗 /agency/id?token=...</a:t>
            </a:r>
            <a:endParaRPr lang="en-US" sz="710" dirty="0"/>
          </a:p>
        </p:txBody>
      </p:sp>
      <p:sp>
        <p:nvSpPr>
          <p:cNvPr id="42" name="Text 39"/>
          <p:cNvSpPr/>
          <p:nvPr/>
        </p:nvSpPr>
        <p:spPr>
          <a:xfrm>
            <a:off x="5791055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Agency receives package</a:t>
            </a:r>
            <a:endParaRPr lang="en-US" sz="1010" dirty="0"/>
          </a:p>
        </p:txBody>
      </p:sp>
      <p:sp>
        <p:nvSpPr>
          <p:cNvPr id="43" name="Text 40"/>
          <p:cNvSpPr/>
          <p:nvPr/>
        </p:nvSpPr>
        <p:spPr>
          <a:xfrm>
            <a:off x="5791055" y="4554008"/>
            <a:ext cx="2020437" cy="46407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Strategy, targeting, creatives, ad copy, UTM links, landing page URLs — all via magic link</a:t>
            </a:r>
            <a:endParaRPr lang="en-US" sz="830" dirty="0"/>
          </a:p>
        </p:txBody>
      </p:sp>
      <p:sp>
        <p:nvSpPr>
          <p:cNvPr id="44" name="Text 41"/>
          <p:cNvSpPr/>
          <p:nvPr/>
        </p:nvSpPr>
        <p:spPr>
          <a:xfrm>
            <a:off x="8415656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Recruiter accesses library</a:t>
            </a:r>
            <a:endParaRPr lang="en-US" sz="1010" dirty="0"/>
          </a:p>
        </p:txBody>
      </p:sp>
      <p:sp>
        <p:nvSpPr>
          <p:cNvPr id="45" name="Text 42"/>
          <p:cNvSpPr/>
          <p:nvPr/>
        </p:nvSpPr>
        <p:spPr>
          <a:xfrm>
            <a:off x="8415656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Creative library live — recruiter builds tracked links and shares with candidates</a:t>
            </a:r>
            <a:endParaRPr lang="en-US" sz="830" dirty="0"/>
          </a:p>
        </p:txBody>
      </p:sp>
      <p:sp>
        <p:nvSpPr>
          <p:cNvPr id="46" name="Text 43"/>
          <p:cNvSpPr/>
          <p:nvPr/>
        </p:nvSpPr>
        <p:spPr>
          <a:xfrm>
            <a:off x="372524" y="6637867"/>
            <a:ext cx="950092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action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418793" y="6637867"/>
            <a:ext cx="663423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Other role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2178392" y="6637867"/>
            <a:ext cx="1008166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 / Gate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10343891" y="6637867"/>
            <a:ext cx="1616163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dirty="0">
                <a:solidFill>
                  <a:srgbClr val="B0B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Creative Operations · OneForma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2" y="127000"/>
            <a:ext cx="2736582" cy="3525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Designer Workflow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541853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Assignment notification</a:t>
            </a:r>
            <a:endParaRPr lang="en-US" sz="1010" dirty="0"/>
          </a:p>
        </p:txBody>
      </p:sp>
      <p:sp>
        <p:nvSpPr>
          <p:cNvPr id="5" name="Text 2"/>
          <p:cNvSpPr/>
          <p:nvPr/>
        </p:nvSpPr>
        <p:spPr>
          <a:xfrm>
            <a:off x="541853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Teams + Outlook email: "Campaign ready for design review"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541853" y="1478756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From Marketing Manager</a:t>
            </a:r>
            <a:endParaRPr lang="en-US" sz="710" dirty="0"/>
          </a:p>
        </p:txBody>
      </p:sp>
      <p:sp>
        <p:nvSpPr>
          <p:cNvPr id="7" name="Text 4"/>
          <p:cNvSpPr/>
          <p:nvPr/>
        </p:nvSpPr>
        <p:spPr>
          <a:xfrm>
            <a:off x="3166454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Designer Dashboard</a:t>
            </a:r>
            <a:endParaRPr lang="en-US" sz="1010" dirty="0"/>
          </a:p>
        </p:txBody>
      </p:sp>
      <p:sp>
        <p:nvSpPr>
          <p:cNvPr id="8" name="Text 5"/>
          <p:cNvSpPr/>
          <p:nvPr/>
        </p:nvSpPr>
        <p:spPr>
          <a:xfrm>
            <a:off x="3166454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Workboard with status groups</a:t>
            </a:r>
            <a:endParaRPr lang="en-US" sz="830" dirty="0"/>
          </a:p>
        </p:txBody>
      </p:sp>
      <p:sp>
        <p:nvSpPr>
          <p:cNvPr id="9" name="Text 6"/>
          <p:cNvSpPr/>
          <p:nvPr/>
        </p:nvSpPr>
        <p:spPr>
          <a:xfrm>
            <a:off x="3166454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5000"/>
              </a:lnSpc>
              <a:buFont typeface="Arial" panose="020B0604020202020204" pitchFamily="34" charset="0"/>
              <a:buChar char="•"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Needs Attention</a:t>
            </a:r>
            <a:endParaRPr lang="en-US" sz="790" dirty="0"/>
          </a:p>
        </p:txBody>
      </p:sp>
      <p:sp>
        <p:nvSpPr>
          <p:cNvPr id="10" name="Text 7"/>
          <p:cNvSpPr/>
          <p:nvPr/>
        </p:nvSpPr>
        <p:spPr>
          <a:xfrm>
            <a:off x="3166454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5000"/>
              </a:lnSpc>
              <a:buFont typeface="Arial" panose="020B0604020202020204" pitchFamily="34" charset="0"/>
              <a:buChar char="•"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Progress</a:t>
            </a:r>
            <a:endParaRPr lang="en-US" sz="790" dirty="0"/>
          </a:p>
        </p:txBody>
      </p:sp>
      <p:sp>
        <p:nvSpPr>
          <p:cNvPr id="11" name="Text 8"/>
          <p:cNvSpPr/>
          <p:nvPr/>
        </p:nvSpPr>
        <p:spPr>
          <a:xfrm>
            <a:off x="3166454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171450" indent="-171450" algn="l">
              <a:lnSpc>
                <a:spcPct val="155000"/>
              </a:lnSpc>
              <a:buFont typeface="Arial" panose="020B0604020202020204" pitchFamily="34" charset="0"/>
              <a:buChar char="•"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Completed</a:t>
            </a:r>
            <a:endParaRPr lang="en-US" sz="790" dirty="0"/>
          </a:p>
        </p:txBody>
      </p:sp>
      <p:sp>
        <p:nvSpPr>
          <p:cNvPr id="12" name="Text 9"/>
          <p:cNvSpPr/>
          <p:nvPr/>
        </p:nvSpPr>
        <p:spPr>
          <a:xfrm>
            <a:off x="5791055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Review creative gallery</a:t>
            </a:r>
            <a:endParaRPr lang="en-US" sz="1010" dirty="0"/>
          </a:p>
        </p:txBody>
      </p:sp>
      <p:sp>
        <p:nvSpPr>
          <p:cNvPr id="13" name="Text 10"/>
          <p:cNvSpPr/>
          <p:nvPr/>
        </p:nvSpPr>
        <p:spPr>
          <a:xfrm>
            <a:off x="5791055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Per-persona tabs with context cards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5791055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Version accordions V1–V5</a:t>
            </a:r>
            <a:endParaRPr lang="en-US" sz="790" dirty="0"/>
          </a:p>
        </p:txBody>
      </p:sp>
      <p:sp>
        <p:nvSpPr>
          <p:cNvPr id="15" name="Text 12"/>
          <p:cNvSpPr/>
          <p:nvPr/>
        </p:nvSpPr>
        <p:spPr>
          <a:xfrm>
            <a:off x="5791055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Format cards with VQA scores</a:t>
            </a:r>
            <a:endParaRPr lang="en-US" sz="790" dirty="0"/>
          </a:p>
        </p:txBody>
      </p:sp>
      <p:sp>
        <p:nvSpPr>
          <p:cNvPr id="16" name="Text 13"/>
          <p:cNvSpPr/>
          <p:nvPr/>
        </p:nvSpPr>
        <p:spPr>
          <a:xfrm>
            <a:off x="5791055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Lightbox fullscreen preview</a:t>
            </a:r>
            <a:endParaRPr lang="en-US" sz="790" dirty="0"/>
          </a:p>
        </p:txBody>
      </p:sp>
      <p:sp>
        <p:nvSpPr>
          <p:cNvPr id="17" name="Text 14"/>
          <p:cNvSpPr/>
          <p:nvPr/>
        </p:nvSpPr>
        <p:spPr>
          <a:xfrm>
            <a:off x="8415656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Review design notes</a:t>
            </a:r>
            <a:endParaRPr lang="en-US" sz="1010" dirty="0"/>
          </a:p>
        </p:txBody>
      </p:sp>
      <p:sp>
        <p:nvSpPr>
          <p:cNvPr id="18" name="Text 15"/>
          <p:cNvSpPr/>
          <p:nvPr/>
        </p:nvSpPr>
        <p:spPr>
          <a:xfrm>
            <a:off x="8415656" y="1167342"/>
            <a:ext cx="2020437" cy="46407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Curated metadata per creative — persona psychology, demographics, targeting context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8415656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Quick Edit — Flux 2</a:t>
            </a:r>
            <a:endParaRPr lang="en-US" sz="1010" dirty="0"/>
          </a:p>
        </p:txBody>
      </p:sp>
      <p:sp>
        <p:nvSpPr>
          <p:cNvPr id="20" name="Text 17"/>
          <p:cNvSpPr/>
          <p:nvPr/>
        </p:nvSpPr>
        <p:spPr>
          <a:xfrm>
            <a:off x="8415656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Amber layer — photo retouching</a:t>
            </a:r>
            <a:endParaRPr lang="en-US" sz="830" dirty="0"/>
          </a:p>
        </p:txBody>
      </p:sp>
      <p:sp>
        <p:nvSpPr>
          <p:cNvPr id="21" name="Text 18"/>
          <p:cNvSpPr/>
          <p:nvPr/>
        </p:nvSpPr>
        <p:spPr>
          <a:xfrm>
            <a:off x="8415656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Brush mask to select area</a:t>
            </a:r>
            <a:endParaRPr lang="en-US" sz="790" dirty="0"/>
          </a:p>
        </p:txBody>
      </p:sp>
      <p:sp>
        <p:nvSpPr>
          <p:cNvPr id="22" name="Text 19"/>
          <p:cNvSpPr/>
          <p:nvPr/>
        </p:nvSpPr>
        <p:spPr>
          <a:xfrm>
            <a:off x="8415656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Fix face, remove object, change bg</a:t>
            </a:r>
            <a:endParaRPr lang="en-US" sz="790" dirty="0"/>
          </a:p>
        </p:txBody>
      </p:sp>
      <p:sp>
        <p:nvSpPr>
          <p:cNvPr id="23" name="Text 20"/>
          <p:cNvSpPr/>
          <p:nvPr/>
        </p:nvSpPr>
        <p:spPr>
          <a:xfrm>
            <a:off x="8415656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Before/after comparison</a:t>
            </a:r>
            <a:endParaRPr lang="en-US" sz="790" dirty="0"/>
          </a:p>
        </p:txBody>
      </p:sp>
      <p:sp>
        <p:nvSpPr>
          <p:cNvPr id="24" name="Text 21"/>
          <p:cNvSpPr/>
          <p:nvPr/>
        </p:nvSpPr>
        <p:spPr>
          <a:xfrm>
            <a:off x="5791055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Graphic Editor — Overlay</a:t>
            </a:r>
            <a:endParaRPr lang="en-US" sz="1010" dirty="0"/>
          </a:p>
        </p:txBody>
      </p:sp>
      <p:sp>
        <p:nvSpPr>
          <p:cNvPr id="25" name="Text 22"/>
          <p:cNvSpPr/>
          <p:nvPr/>
        </p:nvSpPr>
        <p:spPr>
          <a:xfrm>
            <a:off x="5791055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Green layer — live text controls</a:t>
            </a:r>
            <a:endParaRPr lang="en-US" sz="830" dirty="0"/>
          </a:p>
        </p:txBody>
      </p:sp>
      <p:sp>
        <p:nvSpPr>
          <p:cNvPr id="26" name="Text 23"/>
          <p:cNvSpPr/>
          <p:nvPr/>
        </p:nvSpPr>
        <p:spPr>
          <a:xfrm>
            <a:off x="5791055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headline, CTA, body copy</a:t>
            </a:r>
            <a:endParaRPr lang="en-US" sz="790" dirty="0"/>
          </a:p>
        </p:txBody>
      </p:sp>
      <p:sp>
        <p:nvSpPr>
          <p:cNvPr id="27" name="Text 24"/>
          <p:cNvSpPr/>
          <p:nvPr/>
        </p:nvSpPr>
        <p:spPr>
          <a:xfrm>
            <a:off x="5791055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Font, size, color, position</a:t>
            </a:r>
            <a:endParaRPr lang="en-US" sz="790" dirty="0"/>
          </a:p>
        </p:txBody>
      </p:sp>
      <p:sp>
        <p:nvSpPr>
          <p:cNvPr id="28" name="Text 25"/>
          <p:cNvSpPr/>
          <p:nvPr/>
        </p:nvSpPr>
        <p:spPr>
          <a:xfrm>
            <a:off x="5791055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Real-time canvas preview</a:t>
            </a:r>
            <a:endParaRPr lang="en-US" sz="790" dirty="0"/>
          </a:p>
        </p:txBody>
      </p:sp>
      <p:sp>
        <p:nvSpPr>
          <p:cNvPr id="29" name="Text 26"/>
          <p:cNvSpPr/>
          <p:nvPr/>
        </p:nvSpPr>
        <p:spPr>
          <a:xfrm>
            <a:off x="3166454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Figma integration</a:t>
            </a:r>
            <a:endParaRPr lang="en-US" sz="1010" dirty="0"/>
          </a:p>
        </p:txBody>
      </p:sp>
      <p:sp>
        <p:nvSpPr>
          <p:cNvPr id="30" name="Text 27"/>
          <p:cNvSpPr/>
          <p:nvPr/>
        </p:nvSpPr>
        <p:spPr>
          <a:xfrm>
            <a:off x="3166454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Bidirectional workflow</a:t>
            </a:r>
            <a:endParaRPr lang="en-US" sz="830" dirty="0"/>
          </a:p>
        </p:txBody>
      </p:sp>
      <p:sp>
        <p:nvSpPr>
          <p:cNvPr id="31" name="Text 28"/>
          <p:cNvSpPr/>
          <p:nvPr/>
        </p:nvSpPr>
        <p:spPr>
          <a:xfrm>
            <a:off x="3166454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 ZIP SVGs → auto-open</a:t>
            </a:r>
            <a:endParaRPr lang="en-US" sz="790" dirty="0"/>
          </a:p>
        </p:txBody>
      </p:sp>
      <p:sp>
        <p:nvSpPr>
          <p:cNvPr id="32" name="Text 29"/>
          <p:cNvSpPr/>
          <p:nvPr/>
        </p:nvSpPr>
        <p:spPr>
          <a:xfrm>
            <a:off x="3166454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Push: campaign / persona / version</a:t>
            </a:r>
            <a:endParaRPr lang="en-US" sz="790" dirty="0"/>
          </a:p>
        </p:txBody>
      </p:sp>
      <p:sp>
        <p:nvSpPr>
          <p:cNvPr id="33" name="Text 30"/>
          <p:cNvSpPr/>
          <p:nvPr/>
        </p:nvSpPr>
        <p:spPr>
          <a:xfrm>
            <a:off x="3166454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Sync status polling</a:t>
            </a:r>
            <a:endParaRPr lang="en-US" sz="790" dirty="0"/>
          </a:p>
        </p:txBody>
      </p:sp>
      <p:sp>
        <p:nvSpPr>
          <p:cNvPr id="34" name="Text 31"/>
          <p:cNvSpPr/>
          <p:nvPr/>
        </p:nvSpPr>
        <p:spPr>
          <a:xfrm>
            <a:off x="541853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Regenerate — Seedream 4.5</a:t>
            </a:r>
            <a:endParaRPr lang="en-US" sz="1010" dirty="0"/>
          </a:p>
        </p:txBody>
      </p:sp>
      <p:sp>
        <p:nvSpPr>
          <p:cNvPr id="35" name="Text 32"/>
          <p:cNvSpPr/>
          <p:nvPr/>
        </p:nvSpPr>
        <p:spPr>
          <a:xfrm>
            <a:off x="541853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 image regeneration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541853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Change: scene, lighting, pose</a:t>
            </a:r>
            <a:endParaRPr lang="en-US" sz="790" dirty="0"/>
          </a:p>
        </p:txBody>
      </p:sp>
      <p:sp>
        <p:nvSpPr>
          <p:cNvPr id="37" name="Text 34"/>
          <p:cNvSpPr/>
          <p:nvPr/>
        </p:nvSpPr>
        <p:spPr>
          <a:xfrm>
            <a:off x="541853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Expression, outfit checkboxes</a:t>
            </a:r>
            <a:endParaRPr lang="en-US" sz="790" dirty="0"/>
          </a:p>
        </p:txBody>
      </p:sp>
      <p:sp>
        <p:nvSpPr>
          <p:cNvPr id="38" name="Text 35"/>
          <p:cNvSpPr/>
          <p:nvPr/>
        </p:nvSpPr>
        <p:spPr>
          <a:xfrm>
            <a:off x="541853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Triggers Stage 2/4 regen</a:t>
            </a:r>
            <a:endParaRPr lang="en-US" sz="790" dirty="0"/>
          </a:p>
        </p:txBody>
      </p:sp>
      <p:sp>
        <p:nvSpPr>
          <p:cNvPr id="39" name="Text 36"/>
          <p:cNvSpPr/>
          <p:nvPr/>
        </p:nvSpPr>
        <p:spPr>
          <a:xfrm>
            <a:off x="541853" y="3506918"/>
            <a:ext cx="1428446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i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Multiple edit rounds until satisfied.</a:t>
            </a:r>
            <a:endParaRPr lang="en-US" sz="710" dirty="0"/>
          </a:p>
        </p:txBody>
      </p:sp>
      <p:sp>
        <p:nvSpPr>
          <p:cNvPr id="40" name="Text 37"/>
          <p:cNvSpPr/>
          <p:nvPr/>
        </p:nvSpPr>
        <p:spPr>
          <a:xfrm>
            <a:off x="541853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 LP in Dreamweaver</a:t>
            </a:r>
            <a:endParaRPr lang="en-US" sz="1010" dirty="0"/>
          </a:p>
        </p:txBody>
      </p:sp>
      <p:sp>
        <p:nvSpPr>
          <p:cNvPr id="41" name="Text 38"/>
          <p:cNvSpPr/>
          <p:nvPr/>
        </p:nvSpPr>
        <p:spPr>
          <a:xfrm>
            <a:off x="541853" y="4554008"/>
            <a:ext cx="2020437" cy="46407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Download generated HTML → edit in Dreamweaver → sync back to Nova (drift re-validated)</a:t>
            </a:r>
            <a:endParaRPr lang="en-US" sz="830" dirty="0"/>
          </a:p>
        </p:txBody>
      </p:sp>
      <p:sp>
        <p:nvSpPr>
          <p:cNvPr id="42" name="Text 39"/>
          <p:cNvSpPr/>
          <p:nvPr/>
        </p:nvSpPr>
        <p:spPr>
          <a:xfrm>
            <a:off x="3166454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 LP to WordPress</a:t>
            </a:r>
            <a:endParaRPr lang="en-US" sz="1010" dirty="0"/>
          </a:p>
        </p:txBody>
      </p:sp>
      <p:sp>
        <p:nvSpPr>
          <p:cNvPr id="43" name="Text 40"/>
          <p:cNvSpPr/>
          <p:nvPr/>
        </p:nvSpPr>
        <p:spPr>
          <a:xfrm>
            <a:off x="3166454" y="4554008"/>
            <a:ext cx="2020437" cy="464074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FTP push to WP root → LP URL auto-captured → inserted into campaign_landing_pages</a:t>
            </a:r>
            <a:endParaRPr lang="en-US" sz="830" dirty="0"/>
          </a:p>
        </p:txBody>
      </p:sp>
      <p:sp>
        <p:nvSpPr>
          <p:cNvPr id="44" name="Text 41"/>
          <p:cNvSpPr/>
          <p:nvPr/>
        </p:nvSpPr>
        <p:spPr>
          <a:xfrm>
            <a:off x="3166453" y="5115655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🔗 URL auto-populates everywhere</a:t>
            </a:r>
            <a:endParaRPr lang="en-US" sz="710" dirty="0"/>
          </a:p>
        </p:txBody>
      </p:sp>
      <p:sp>
        <p:nvSpPr>
          <p:cNvPr id="45" name="Text 42"/>
          <p:cNvSpPr/>
          <p:nvPr/>
        </p:nvSpPr>
        <p:spPr>
          <a:xfrm>
            <a:off x="5791055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Submit finals</a:t>
            </a:r>
            <a:endParaRPr lang="en-US" sz="1010" dirty="0"/>
          </a:p>
        </p:txBody>
      </p:sp>
      <p:sp>
        <p:nvSpPr>
          <p:cNvPr id="46" name="Text 43"/>
          <p:cNvSpPr/>
          <p:nvPr/>
        </p:nvSpPr>
        <p:spPr>
          <a:xfrm>
            <a:off x="5791055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Creatives + landing pages all ready for Marketing Manager's final approval</a:t>
            </a:r>
            <a:endParaRPr lang="en-US" sz="830" dirty="0"/>
          </a:p>
        </p:txBody>
      </p:sp>
      <p:sp>
        <p:nvSpPr>
          <p:cNvPr id="47" name="Text 44"/>
          <p:cNvSpPr/>
          <p:nvPr/>
        </p:nvSpPr>
        <p:spPr>
          <a:xfrm>
            <a:off x="5791055" y="4968673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Teams + Outlook to Marketing</a:t>
            </a:r>
            <a:endParaRPr lang="en-US" sz="710" dirty="0"/>
          </a:p>
        </p:txBody>
      </p:sp>
      <p:sp>
        <p:nvSpPr>
          <p:cNvPr id="48" name="Text 45"/>
          <p:cNvSpPr/>
          <p:nvPr/>
        </p:nvSpPr>
        <p:spPr>
          <a:xfrm>
            <a:off x="8415656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Campaign goes live</a:t>
            </a:r>
            <a:endParaRPr lang="en-US" sz="1010" dirty="0"/>
          </a:p>
        </p:txBody>
      </p:sp>
      <p:sp>
        <p:nvSpPr>
          <p:cNvPr id="49" name="Text 46"/>
          <p:cNvSpPr/>
          <p:nvPr/>
        </p:nvSpPr>
        <p:spPr>
          <a:xfrm>
            <a:off x="8415656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approves → recruiter library + agency magic link + live WP landing pages</a:t>
            </a:r>
            <a:endParaRPr lang="en-US" sz="830" dirty="0"/>
          </a:p>
        </p:txBody>
      </p:sp>
      <p:sp>
        <p:nvSpPr>
          <p:cNvPr id="50" name="Text 47"/>
          <p:cNvSpPr/>
          <p:nvPr/>
        </p:nvSpPr>
        <p:spPr>
          <a:xfrm>
            <a:off x="8415656" y="4948558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Notifications to all</a:t>
            </a:r>
            <a:endParaRPr lang="en-US" sz="710" dirty="0"/>
          </a:p>
        </p:txBody>
      </p:sp>
      <p:sp>
        <p:nvSpPr>
          <p:cNvPr id="51" name="Text 48"/>
          <p:cNvSpPr/>
          <p:nvPr/>
        </p:nvSpPr>
        <p:spPr>
          <a:xfrm>
            <a:off x="372524" y="6637867"/>
            <a:ext cx="903526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Designer action</a:t>
            </a:r>
            <a:endParaRPr lang="en-US" sz="750" dirty="0"/>
          </a:p>
        </p:txBody>
      </p:sp>
      <p:sp>
        <p:nvSpPr>
          <p:cNvPr id="52" name="Text 49"/>
          <p:cNvSpPr/>
          <p:nvPr/>
        </p:nvSpPr>
        <p:spPr>
          <a:xfrm>
            <a:off x="1372227" y="6637867"/>
            <a:ext cx="491712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Figma</a:t>
            </a:r>
            <a:endParaRPr lang="en-US" sz="750" dirty="0"/>
          </a:p>
        </p:txBody>
      </p:sp>
      <p:sp>
        <p:nvSpPr>
          <p:cNvPr id="53" name="Text 50"/>
          <p:cNvSpPr/>
          <p:nvPr/>
        </p:nvSpPr>
        <p:spPr>
          <a:xfrm>
            <a:off x="1960117" y="6637867"/>
            <a:ext cx="661967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2718261" y="6637867"/>
            <a:ext cx="733139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10343891" y="6637867"/>
            <a:ext cx="1616163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dirty="0">
                <a:solidFill>
                  <a:srgbClr val="B0B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Creative Operations · OneForma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1" y="127000"/>
            <a:ext cx="4098244" cy="3525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Paid Media Agency Workflow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541853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Receive magic link</a:t>
            </a:r>
            <a:endParaRPr lang="en-US" sz="1010" dirty="0"/>
          </a:p>
        </p:txBody>
      </p:sp>
      <p:sp>
        <p:nvSpPr>
          <p:cNvPr id="5" name="Text 2"/>
          <p:cNvSpPr/>
          <p:nvPr/>
        </p:nvSpPr>
        <p:spPr>
          <a:xfrm>
            <a:off x="541853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Teams + Outlook email with authenticated portal URL — no login required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541852" y="1548341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From Marketing Manager</a:t>
            </a:r>
            <a:endParaRPr lang="en-US" sz="710" dirty="0"/>
          </a:p>
        </p:txBody>
      </p:sp>
      <p:sp>
        <p:nvSpPr>
          <p:cNvPr id="7" name="Text 4"/>
          <p:cNvSpPr/>
          <p:nvPr/>
        </p:nvSpPr>
        <p:spPr>
          <a:xfrm>
            <a:off x="3166454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agency portal</a:t>
            </a:r>
            <a:endParaRPr lang="en-US" sz="1010" dirty="0"/>
          </a:p>
        </p:txBody>
      </p:sp>
      <p:sp>
        <p:nvSpPr>
          <p:cNvPr id="8" name="Text 5"/>
          <p:cNvSpPr/>
          <p:nvPr/>
        </p:nvSpPr>
        <p:spPr>
          <a:xfrm>
            <a:off x="3166454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/agency/id?token=... — campaign title, slug, status badge, expiry timer</a:t>
            </a:r>
            <a:endParaRPr lang="en-US" sz="830" dirty="0"/>
          </a:p>
        </p:txBody>
      </p:sp>
      <p:sp>
        <p:nvSpPr>
          <p:cNvPr id="9" name="Text 6"/>
          <p:cNvSpPr/>
          <p:nvPr/>
        </p:nvSpPr>
        <p:spPr>
          <a:xfrm>
            <a:off x="3166454" y="1538293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⏰ Expires in 7 days</a:t>
            </a:r>
            <a:endParaRPr lang="en-US" sz="710" dirty="0"/>
          </a:p>
        </p:txBody>
      </p:sp>
      <p:sp>
        <p:nvSpPr>
          <p:cNvPr id="10" name="Text 7"/>
          <p:cNvSpPr/>
          <p:nvPr/>
        </p:nvSpPr>
        <p:spPr>
          <a:xfrm>
            <a:off x="5791055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 1: Overview &amp; Strategy</a:t>
            </a:r>
            <a:endParaRPr lang="en-US" sz="1010" dirty="0"/>
          </a:p>
        </p:txBody>
      </p:sp>
      <p:sp>
        <p:nvSpPr>
          <p:cNvPr id="11" name="Text 8"/>
          <p:cNvSpPr/>
          <p:nvPr/>
        </p:nvSpPr>
        <p:spPr>
          <a:xfrm>
            <a:off x="5791055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High-level campaign view</a:t>
            </a:r>
            <a:endParaRPr lang="en-US" sz="830" dirty="0"/>
          </a:p>
        </p:txBody>
      </p:sp>
      <p:sp>
        <p:nvSpPr>
          <p:cNvPr id="12" name="Text 9"/>
          <p:cNvSpPr/>
          <p:nvPr/>
        </p:nvSpPr>
        <p:spPr>
          <a:xfrm>
            <a:off x="5791055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 targeting profiles</a:t>
            </a:r>
            <a:endParaRPr lang="en-US" sz="790" dirty="0"/>
          </a:p>
        </p:txBody>
      </p:sp>
      <p:sp>
        <p:nvSpPr>
          <p:cNvPr id="13" name="Text 10"/>
          <p:cNvSpPr/>
          <p:nvPr/>
        </p:nvSpPr>
        <p:spPr>
          <a:xfrm>
            <a:off x="5791055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mix visualization</a:t>
            </a:r>
            <a:endParaRPr lang="en-US" sz="790" dirty="0"/>
          </a:p>
        </p:txBody>
      </p:sp>
      <p:sp>
        <p:nvSpPr>
          <p:cNvPr id="14" name="Text 11"/>
          <p:cNvSpPr/>
          <p:nvPr/>
        </p:nvSpPr>
        <p:spPr>
          <a:xfrm>
            <a:off x="5791055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Budget allocation per channel</a:t>
            </a:r>
            <a:endParaRPr lang="en-US" sz="790" dirty="0"/>
          </a:p>
        </p:txBody>
      </p:sp>
      <p:sp>
        <p:nvSpPr>
          <p:cNvPr id="15" name="Text 12"/>
          <p:cNvSpPr/>
          <p:nvPr/>
        </p:nvSpPr>
        <p:spPr>
          <a:xfrm>
            <a:off x="8415656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Tab 2: Channels &amp; Ad Sets</a:t>
            </a:r>
            <a:endParaRPr lang="en-US" sz="1010" dirty="0"/>
          </a:p>
        </p:txBody>
      </p:sp>
      <p:sp>
        <p:nvSpPr>
          <p:cNvPr id="16" name="Text 13"/>
          <p:cNvSpPr/>
          <p:nvPr/>
        </p:nvSpPr>
        <p:spPr>
          <a:xfrm>
            <a:off x="8415656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Per-channel accordion sections with full targeting detail</a:t>
            </a:r>
            <a:endParaRPr lang="en-US" sz="830" dirty="0"/>
          </a:p>
        </p:txBody>
      </p:sp>
      <p:sp>
        <p:nvSpPr>
          <p:cNvPr id="17" name="Text 14"/>
          <p:cNvSpPr/>
          <p:nvPr/>
        </p:nvSpPr>
        <p:spPr>
          <a:xfrm>
            <a:off x="8415656" y="1546096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Meta · LinkedIn · TikTok · Google</a:t>
            </a:r>
            <a:endParaRPr lang="en-US" sz="710" dirty="0"/>
          </a:p>
        </p:txBody>
      </p:sp>
      <p:sp>
        <p:nvSpPr>
          <p:cNvPr id="18" name="Text 15"/>
          <p:cNvSpPr/>
          <p:nvPr/>
        </p:nvSpPr>
        <p:spPr>
          <a:xfrm>
            <a:off x="8415656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 set targeting detail</a:t>
            </a:r>
            <a:endParaRPr lang="en-US" sz="1010" dirty="0"/>
          </a:p>
        </p:txBody>
      </p:sp>
      <p:sp>
        <p:nvSpPr>
          <p:cNvPr id="19" name="Text 16"/>
          <p:cNvSpPr/>
          <p:nvPr/>
        </p:nvSpPr>
        <p:spPr>
          <a:xfrm>
            <a:off x="8415656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ad set card</a:t>
            </a:r>
            <a:endParaRPr lang="en-US" sz="830" dirty="0"/>
          </a:p>
        </p:txBody>
      </p:sp>
      <p:sp>
        <p:nvSpPr>
          <p:cNvPr id="20" name="Text 17"/>
          <p:cNvSpPr/>
          <p:nvPr/>
        </p:nvSpPr>
        <p:spPr>
          <a:xfrm>
            <a:off x="8415656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Interests: hyper / hot / broad</a:t>
            </a:r>
            <a:endParaRPr lang="en-US" sz="790" dirty="0"/>
          </a:p>
        </p:txBody>
      </p:sp>
      <p:sp>
        <p:nvSpPr>
          <p:cNvPr id="21" name="Text 18"/>
          <p:cNvSpPr/>
          <p:nvPr/>
        </p:nvSpPr>
        <p:spPr>
          <a:xfrm>
            <a:off x="8415656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Demographics &amp; geo</a:t>
            </a:r>
            <a:endParaRPr lang="en-US" sz="790" dirty="0"/>
          </a:p>
        </p:txBody>
      </p:sp>
      <p:sp>
        <p:nvSpPr>
          <p:cNvPr id="22" name="Text 19"/>
          <p:cNvSpPr/>
          <p:nvPr/>
        </p:nvSpPr>
        <p:spPr>
          <a:xfrm>
            <a:off x="8415656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Placements &amp; rules</a:t>
            </a:r>
            <a:endParaRPr lang="en-US" sz="790" dirty="0"/>
          </a:p>
        </p:txBody>
      </p:sp>
      <p:sp>
        <p:nvSpPr>
          <p:cNvPr id="23" name="Text 20"/>
          <p:cNvSpPr/>
          <p:nvPr/>
        </p:nvSpPr>
        <p:spPr>
          <a:xfrm>
            <a:off x="5791055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Creative thumbnails &amp; copy</a:t>
            </a:r>
            <a:endParaRPr lang="en-US" sz="1010" dirty="0"/>
          </a:p>
        </p:txBody>
      </p:sp>
      <p:sp>
        <p:nvSpPr>
          <p:cNvPr id="24" name="Text 21"/>
          <p:cNvSpPr/>
          <p:nvPr/>
        </p:nvSpPr>
        <p:spPr>
          <a:xfrm>
            <a:off x="5791055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ad set — sorted by VQA score</a:t>
            </a:r>
            <a:endParaRPr lang="en-US" sz="830" dirty="0"/>
          </a:p>
        </p:txBody>
      </p:sp>
      <p:sp>
        <p:nvSpPr>
          <p:cNvPr id="25" name="Text 22"/>
          <p:cNvSpPr/>
          <p:nvPr/>
        </p:nvSpPr>
        <p:spPr>
          <a:xfrm>
            <a:off x="5791055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Headline, body, CTA</a:t>
            </a:r>
            <a:endParaRPr lang="en-US" sz="790" dirty="0"/>
          </a:p>
        </p:txBody>
      </p:sp>
      <p:sp>
        <p:nvSpPr>
          <p:cNvPr id="26" name="Text 23"/>
          <p:cNvSpPr/>
          <p:nvPr/>
        </p:nvSpPr>
        <p:spPr>
          <a:xfrm>
            <a:off x="5791055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Description text</a:t>
            </a:r>
            <a:endParaRPr lang="en-US" sz="790" dirty="0"/>
          </a:p>
        </p:txBody>
      </p:sp>
      <p:sp>
        <p:nvSpPr>
          <p:cNvPr id="27" name="Text 24"/>
          <p:cNvSpPr/>
          <p:nvPr/>
        </p:nvSpPr>
        <p:spPr>
          <a:xfrm>
            <a:off x="5791055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Hook type badge</a:t>
            </a:r>
            <a:endParaRPr lang="en-US" sz="790" dirty="0"/>
          </a:p>
        </p:txBody>
      </p:sp>
      <p:sp>
        <p:nvSpPr>
          <p:cNvPr id="28" name="Text 25"/>
          <p:cNvSpPr/>
          <p:nvPr/>
        </p:nvSpPr>
        <p:spPr>
          <a:xfrm>
            <a:off x="3166454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UTM tracked links</a:t>
            </a:r>
            <a:endParaRPr lang="en-US" sz="1010" dirty="0"/>
          </a:p>
        </p:txBody>
      </p:sp>
      <p:sp>
        <p:nvSpPr>
          <p:cNvPr id="29" name="Text 26"/>
          <p:cNvSpPr/>
          <p:nvPr/>
        </p:nvSpPr>
        <p:spPr>
          <a:xfrm>
            <a:off x="3166454" y="2860675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Pre-built tracking URLs per creative — ready to paste into ad manager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3166452" y="3220381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🔗 Campaign + source + medium</a:t>
            </a:r>
            <a:endParaRPr lang="en-US" sz="710" dirty="0"/>
          </a:p>
        </p:txBody>
      </p:sp>
      <p:sp>
        <p:nvSpPr>
          <p:cNvPr id="31" name="Text 28"/>
          <p:cNvSpPr/>
          <p:nvPr/>
        </p:nvSpPr>
        <p:spPr>
          <a:xfrm>
            <a:off x="541853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Landing page URLs</a:t>
            </a:r>
            <a:endParaRPr lang="en-US" sz="1010" dirty="0"/>
          </a:p>
        </p:txBody>
      </p:sp>
      <p:sp>
        <p:nvSpPr>
          <p:cNvPr id="32" name="Text 29"/>
          <p:cNvSpPr/>
          <p:nvPr/>
        </p:nvSpPr>
        <p:spPr>
          <a:xfrm>
            <a:off x="541853" y="2860675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Per-persona /lp/ routes for ad click destinations — message-matched</a:t>
            </a:r>
            <a:endParaRPr lang="en-US" sz="830" dirty="0"/>
          </a:p>
        </p:txBody>
      </p:sp>
      <p:sp>
        <p:nvSpPr>
          <p:cNvPr id="33" name="Text 30"/>
          <p:cNvSpPr/>
          <p:nvPr/>
        </p:nvSpPr>
        <p:spPr>
          <a:xfrm>
            <a:off x="541851" y="3231626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🔗 /lp/campaign--persona</a:t>
            </a:r>
            <a:endParaRPr lang="en-US" sz="710" dirty="0"/>
          </a:p>
        </p:txBody>
      </p:sp>
      <p:sp>
        <p:nvSpPr>
          <p:cNvPr id="34" name="Text 31"/>
          <p:cNvSpPr/>
          <p:nvPr/>
        </p:nvSpPr>
        <p:spPr>
          <a:xfrm>
            <a:off x="541853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Download all creatives</a:t>
            </a:r>
            <a:endParaRPr lang="en-US" sz="1010" dirty="0"/>
          </a:p>
        </p:txBody>
      </p:sp>
      <p:sp>
        <p:nvSpPr>
          <p:cNvPr id="35" name="Text 32"/>
          <p:cNvSpPr/>
          <p:nvPr/>
        </p:nvSpPr>
        <p:spPr>
          <a:xfrm>
            <a:off x="541853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ZIP file with all composed creatives organized by channel and persona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541853" y="4865423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📦 Bulk download</a:t>
            </a:r>
            <a:endParaRPr lang="en-US" sz="710" dirty="0"/>
          </a:p>
        </p:txBody>
      </p:sp>
      <p:sp>
        <p:nvSpPr>
          <p:cNvPr id="37" name="Text 34"/>
          <p:cNvSpPr/>
          <p:nvPr/>
        </p:nvSpPr>
        <p:spPr>
          <a:xfrm>
            <a:off x="3166454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Launch campaigns</a:t>
            </a:r>
            <a:endParaRPr lang="en-US" sz="1010" dirty="0"/>
          </a:p>
        </p:txBody>
      </p:sp>
      <p:sp>
        <p:nvSpPr>
          <p:cNvPr id="38" name="Text 35"/>
          <p:cNvSpPr/>
          <p:nvPr/>
        </p:nvSpPr>
        <p:spPr>
          <a:xfrm>
            <a:off x="3166454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creatives to Meta Ads Manager, LinkedIn Campaign Manager, etc.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5791055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Set ad destinations</a:t>
            </a:r>
            <a:endParaRPr lang="en-US" sz="1010" dirty="0"/>
          </a:p>
        </p:txBody>
      </p:sp>
      <p:sp>
        <p:nvSpPr>
          <p:cNvPr id="40" name="Text 37"/>
          <p:cNvSpPr/>
          <p:nvPr/>
        </p:nvSpPr>
        <p:spPr>
          <a:xfrm>
            <a:off x="5791055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landing page URLs as click-through destinations in each ad set </a:t>
            </a:r>
          </a:p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(already provided UTMs per ad/creative)</a:t>
            </a:r>
            <a:endParaRPr lang="en-US" sz="830" dirty="0"/>
          </a:p>
        </p:txBody>
      </p:sp>
      <p:sp>
        <p:nvSpPr>
          <p:cNvPr id="41" name="Text 38"/>
          <p:cNvSpPr/>
          <p:nvPr/>
        </p:nvSpPr>
        <p:spPr>
          <a:xfrm>
            <a:off x="8415656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Campaigns live</a:t>
            </a:r>
            <a:endParaRPr lang="en-US" sz="1010" dirty="0"/>
          </a:p>
        </p:txBody>
      </p:sp>
      <p:sp>
        <p:nvSpPr>
          <p:cNvPr id="42" name="Text 39"/>
          <p:cNvSpPr/>
          <p:nvPr/>
        </p:nvSpPr>
        <p:spPr>
          <a:xfrm>
            <a:off x="8415656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Ads running with tracked links, matched creatives, and per-persona landing pages</a:t>
            </a:r>
            <a:endParaRPr lang="en-US" sz="830" dirty="0"/>
          </a:p>
        </p:txBody>
      </p:sp>
      <p:sp>
        <p:nvSpPr>
          <p:cNvPr id="43" name="Text 40"/>
          <p:cNvSpPr/>
          <p:nvPr/>
        </p:nvSpPr>
        <p:spPr>
          <a:xfrm>
            <a:off x="8415656" y="4865423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 End-to-end delivery</a:t>
            </a:r>
            <a:endParaRPr lang="en-US" sz="710" dirty="0"/>
          </a:p>
        </p:txBody>
      </p:sp>
      <p:sp>
        <p:nvSpPr>
          <p:cNvPr id="44" name="Text 41"/>
          <p:cNvSpPr/>
          <p:nvPr/>
        </p:nvSpPr>
        <p:spPr>
          <a:xfrm>
            <a:off x="372524" y="5588000"/>
            <a:ext cx="301590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i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Agency is fully read-only — no editing, no approval controls, no raw assets.</a:t>
            </a:r>
            <a:endParaRPr lang="en-US" sz="710" dirty="0"/>
          </a:p>
        </p:txBody>
      </p:sp>
      <p:sp>
        <p:nvSpPr>
          <p:cNvPr id="45" name="Text 42"/>
          <p:cNvSpPr/>
          <p:nvPr/>
        </p:nvSpPr>
        <p:spPr>
          <a:xfrm>
            <a:off x="372524" y="6637867"/>
            <a:ext cx="839498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Agency action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1308200" y="6637867"/>
            <a:ext cx="733139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10343891" y="6637867"/>
            <a:ext cx="1616163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dirty="0">
                <a:solidFill>
                  <a:srgbClr val="B0B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Creative Operations · OneForma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2" y="127000"/>
            <a:ext cx="3416740" cy="3525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System Pipeline — All 6 Stages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541853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Intake → compute_job</a:t>
            </a:r>
            <a:endParaRPr lang="en-US" sz="1010" dirty="0"/>
          </a:p>
        </p:txBody>
      </p:sp>
      <p:sp>
        <p:nvSpPr>
          <p:cNvPr id="5" name="Text 2"/>
          <p:cNvSpPr/>
          <p:nvPr/>
        </p:nvSpPr>
        <p:spPr>
          <a:xfrm>
            <a:off x="541853" y="1167342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Recruiter submits → intake_request created → compute_job queued → worker claims</a:t>
            </a:r>
            <a:endParaRPr lang="en-US" sz="830" dirty="0"/>
          </a:p>
        </p:txBody>
      </p:sp>
      <p:sp>
        <p:nvSpPr>
          <p:cNvPr id="6" name="Text 3"/>
          <p:cNvSpPr/>
          <p:nvPr/>
        </p:nvSpPr>
        <p:spPr>
          <a:xfrm>
            <a:off x="541853" y="1478756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Status: draft → generating</a:t>
            </a:r>
            <a:endParaRPr lang="en-US" sz="710" dirty="0"/>
          </a:p>
        </p:txBody>
      </p:sp>
      <p:sp>
        <p:nvSpPr>
          <p:cNvPr id="7" name="Text 4"/>
          <p:cNvSpPr/>
          <p:nvPr/>
        </p:nvSpPr>
        <p:spPr>
          <a:xfrm>
            <a:off x="3166454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 1: Intelligence</a:t>
            </a:r>
            <a:endParaRPr lang="en-US" sz="1010" dirty="0"/>
          </a:p>
        </p:txBody>
      </p:sp>
      <p:sp>
        <p:nvSpPr>
          <p:cNvPr id="8" name="Text 5"/>
          <p:cNvSpPr/>
          <p:nvPr/>
        </p:nvSpPr>
        <p:spPr>
          <a:xfrm>
            <a:off x="3166454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Kimi K2.5 + Qwen 3.5 397B</a:t>
            </a:r>
            <a:endParaRPr lang="en-US" sz="830" dirty="0"/>
          </a:p>
        </p:txBody>
      </p:sp>
      <p:sp>
        <p:nvSpPr>
          <p:cNvPr id="9" name="Text 6"/>
          <p:cNvSpPr/>
          <p:nvPr/>
        </p:nvSpPr>
        <p:spPr>
          <a:xfrm>
            <a:off x="3166454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Research (Kimi) + reasoning (Qwen)</a:t>
            </a:r>
            <a:endParaRPr lang="en-US" sz="790" dirty="0"/>
          </a:p>
        </p:txBody>
      </p:sp>
      <p:sp>
        <p:nvSpPr>
          <p:cNvPr id="10" name="Text 7"/>
          <p:cNvSpPr/>
          <p:nvPr/>
        </p:nvSpPr>
        <p:spPr>
          <a:xfrm>
            <a:off x="3166454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Personas, brief, design direction</a:t>
            </a:r>
            <a:endParaRPr lang="en-US" sz="790" dirty="0"/>
          </a:p>
        </p:txBody>
      </p:sp>
      <p:sp>
        <p:nvSpPr>
          <p:cNvPr id="11" name="Text 8"/>
          <p:cNvSpPr/>
          <p:nvPr/>
        </p:nvSpPr>
        <p:spPr>
          <a:xfrm>
            <a:off x="3166454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🛡️ 8-dim eval gate (Qwen 3.5)</a:t>
            </a:r>
            <a:endParaRPr lang="en-US" sz="790" dirty="0"/>
          </a:p>
        </p:txBody>
      </p:sp>
      <p:sp>
        <p:nvSpPr>
          <p:cNvPr id="12" name="Text 9"/>
          <p:cNvSpPr/>
          <p:nvPr/>
        </p:nvSpPr>
        <p:spPr>
          <a:xfrm>
            <a:off x="5791055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 2: Images</a:t>
            </a:r>
            <a:endParaRPr lang="en-US" sz="1010" dirty="0"/>
          </a:p>
        </p:txBody>
      </p:sp>
      <p:sp>
        <p:nvSpPr>
          <p:cNvPr id="13" name="Text 10"/>
          <p:cNvSpPr/>
          <p:nvPr/>
        </p:nvSpPr>
        <p:spPr>
          <a:xfrm>
            <a:off x="5791055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Qwen 3.5 + Seedream 4.5</a:t>
            </a:r>
            <a:endParaRPr lang="en-US" sz="830" dirty="0"/>
          </a:p>
        </p:txBody>
      </p:sp>
      <p:sp>
        <p:nvSpPr>
          <p:cNvPr id="14" name="Text 11"/>
          <p:cNvSpPr/>
          <p:nvPr/>
        </p:nvSpPr>
        <p:spPr>
          <a:xfrm>
            <a:off x="5791055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Actor desc (Qwen) → images (Seedream)</a:t>
            </a:r>
            <a:endParaRPr lang="en-US" sz="790" dirty="0"/>
          </a:p>
        </p:txBody>
      </p:sp>
      <p:sp>
        <p:nvSpPr>
          <p:cNvPr id="15" name="Text 12"/>
          <p:cNvSpPr/>
          <p:nvPr/>
        </p:nvSpPr>
        <p:spPr>
          <a:xfrm>
            <a:off x="5791055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Cleanup: Flux 2 Pro (optional)</a:t>
            </a:r>
            <a:endParaRPr lang="en-US" sz="790" dirty="0"/>
          </a:p>
        </p:txBody>
      </p:sp>
      <p:sp>
        <p:nvSpPr>
          <p:cNvPr id="16" name="Text 13"/>
          <p:cNvSpPr/>
          <p:nvPr/>
        </p:nvSpPr>
        <p:spPr>
          <a:xfrm>
            <a:off x="5791055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🛡️ VQA gate (Qwen3-VL local)</a:t>
            </a:r>
            <a:endParaRPr lang="en-US" sz="790" dirty="0"/>
          </a:p>
        </p:txBody>
      </p:sp>
      <p:sp>
        <p:nvSpPr>
          <p:cNvPr id="17" name="Text 14"/>
          <p:cNvSpPr/>
          <p:nvPr/>
        </p:nvSpPr>
        <p:spPr>
          <a:xfrm>
            <a:off x="8415656" y="982133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 3: Copy</a:t>
            </a:r>
            <a:endParaRPr lang="en-US" sz="1010" dirty="0"/>
          </a:p>
        </p:txBody>
      </p:sp>
      <p:sp>
        <p:nvSpPr>
          <p:cNvPr id="18" name="Text 15"/>
          <p:cNvSpPr/>
          <p:nvPr/>
        </p:nvSpPr>
        <p:spPr>
          <a:xfrm>
            <a:off x="8415656" y="1167342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Gemma 3 27B (creative specialist)</a:t>
            </a:r>
            <a:endParaRPr lang="en-US" sz="830" dirty="0"/>
          </a:p>
        </p:txBody>
      </p:sp>
      <p:sp>
        <p:nvSpPr>
          <p:cNvPr id="19" name="Text 16"/>
          <p:cNvSpPr/>
          <p:nvPr/>
        </p:nvSpPr>
        <p:spPr>
          <a:xfrm>
            <a:off x="8415656" y="1331516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 persona × channel × language</a:t>
            </a:r>
            <a:endParaRPr lang="en-US" sz="790" dirty="0"/>
          </a:p>
        </p:txBody>
      </p:sp>
      <p:sp>
        <p:nvSpPr>
          <p:cNvPr id="20" name="Text 17"/>
          <p:cNvSpPr/>
          <p:nvPr/>
        </p:nvSpPr>
        <p:spPr>
          <a:xfrm>
            <a:off x="8415656" y="1469231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pillar variations each</a:t>
            </a:r>
            <a:endParaRPr lang="en-US" sz="790" dirty="0"/>
          </a:p>
        </p:txBody>
      </p:sp>
      <p:sp>
        <p:nvSpPr>
          <p:cNvPr id="21" name="Text 18"/>
          <p:cNvSpPr/>
          <p:nvPr/>
        </p:nvSpPr>
        <p:spPr>
          <a:xfrm>
            <a:off x="8415656" y="1606947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🛡️ Copy quality gate</a:t>
            </a:r>
            <a:endParaRPr lang="en-US" sz="790" dirty="0"/>
          </a:p>
        </p:txBody>
      </p:sp>
      <p:sp>
        <p:nvSpPr>
          <p:cNvPr id="22" name="Text 19"/>
          <p:cNvSpPr/>
          <p:nvPr/>
        </p:nvSpPr>
        <p:spPr>
          <a:xfrm>
            <a:off x="8415656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 4: Composition</a:t>
            </a:r>
            <a:endParaRPr lang="en-US" sz="1010" dirty="0"/>
          </a:p>
        </p:txBody>
      </p:sp>
      <p:sp>
        <p:nvSpPr>
          <p:cNvPr id="23" name="Text 20"/>
          <p:cNvSpPr/>
          <p:nvPr/>
        </p:nvSpPr>
        <p:spPr>
          <a:xfrm>
            <a:off x="8415656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 (design) + Gemma 4 (VQA)</a:t>
            </a:r>
            <a:endParaRPr lang="en-US" sz="830" dirty="0"/>
          </a:p>
        </p:txBody>
      </p:sp>
      <p:sp>
        <p:nvSpPr>
          <p:cNvPr id="24" name="Text 21"/>
          <p:cNvSpPr/>
          <p:nvPr/>
        </p:nvSpPr>
        <p:spPr>
          <a:xfrm>
            <a:off x="8415656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HTML/CSS → Playwright → PNG</a:t>
            </a:r>
            <a:endParaRPr lang="en-US" sz="790" dirty="0"/>
          </a:p>
        </p:txBody>
      </p:sp>
      <p:sp>
        <p:nvSpPr>
          <p:cNvPr id="25" name="Text 22"/>
          <p:cNvSpPr/>
          <p:nvPr/>
        </p:nvSpPr>
        <p:spPr>
          <a:xfrm>
            <a:off x="8415656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Flux 2 edit loop (up to 3x)</a:t>
            </a:r>
            <a:endParaRPr lang="en-US" sz="790" dirty="0"/>
          </a:p>
        </p:txBody>
      </p:sp>
      <p:sp>
        <p:nvSpPr>
          <p:cNvPr id="26" name="Text 23"/>
          <p:cNvSpPr/>
          <p:nvPr/>
        </p:nvSpPr>
        <p:spPr>
          <a:xfrm>
            <a:off x="8415656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🛡️ VQA ≥ 0.85 (Gemma 4 31B)</a:t>
            </a:r>
            <a:endParaRPr lang="en-US" sz="790" dirty="0"/>
          </a:p>
        </p:txBody>
      </p:sp>
      <p:sp>
        <p:nvSpPr>
          <p:cNvPr id="27" name="Text 24"/>
          <p:cNvSpPr/>
          <p:nvPr/>
        </p:nvSpPr>
        <p:spPr>
          <a:xfrm>
            <a:off x="5791055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 5: Video</a:t>
            </a:r>
            <a:endParaRPr lang="en-US" sz="1010" dirty="0"/>
          </a:p>
        </p:txBody>
      </p:sp>
      <p:sp>
        <p:nvSpPr>
          <p:cNvPr id="28" name="Text 25"/>
          <p:cNvSpPr/>
          <p:nvPr/>
        </p:nvSpPr>
        <p:spPr>
          <a:xfrm>
            <a:off x="5791055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Gemma 4 + Seedream + Kling V3</a:t>
            </a:r>
            <a:endParaRPr lang="en-US" sz="830" dirty="0"/>
          </a:p>
        </p:txBody>
      </p:sp>
      <p:sp>
        <p:nvSpPr>
          <p:cNvPr id="29" name="Text 26"/>
          <p:cNvSpPr/>
          <p:nvPr/>
        </p:nvSpPr>
        <p:spPr>
          <a:xfrm>
            <a:off x="5791055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Storyboard (Gemma 4 31B)</a:t>
            </a:r>
            <a:endParaRPr lang="en-US" sz="790" dirty="0"/>
          </a:p>
        </p:txBody>
      </p:sp>
      <p:sp>
        <p:nvSpPr>
          <p:cNvPr id="30" name="Text 27"/>
          <p:cNvSpPr/>
          <p:nvPr/>
        </p:nvSpPr>
        <p:spPr>
          <a:xfrm>
            <a:off x="5791055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Scenes (Seedream 4.5)</a:t>
            </a:r>
            <a:endParaRPr lang="en-US" sz="790" dirty="0"/>
          </a:p>
        </p:txBody>
      </p:sp>
      <p:sp>
        <p:nvSpPr>
          <p:cNvPr id="31" name="Text 28"/>
          <p:cNvSpPr/>
          <p:nvPr/>
        </p:nvSpPr>
        <p:spPr>
          <a:xfrm>
            <a:off x="5791055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Video (Kling V3 Omni / Sedeo)</a:t>
            </a:r>
            <a:endParaRPr lang="en-US" sz="790" dirty="0"/>
          </a:p>
        </p:txBody>
      </p:sp>
      <p:sp>
        <p:nvSpPr>
          <p:cNvPr id="32" name="Text 29"/>
          <p:cNvSpPr/>
          <p:nvPr/>
        </p:nvSpPr>
        <p:spPr>
          <a:xfrm>
            <a:off x="3166454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 6: Landing Pages</a:t>
            </a:r>
            <a:endParaRPr lang="en-US" sz="1010" dirty="0"/>
          </a:p>
        </p:txBody>
      </p:sp>
      <p:sp>
        <p:nvSpPr>
          <p:cNvPr id="33" name="Text 30"/>
          <p:cNvSpPr/>
          <p:nvPr/>
        </p:nvSpPr>
        <p:spPr>
          <a:xfrm>
            <a:off x="3166454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Gemma 4 (copy) + GLM-5 (HTML)</a:t>
            </a:r>
            <a:endParaRPr lang="en-US" sz="830" dirty="0"/>
          </a:p>
        </p:txBody>
      </p:sp>
      <p:sp>
        <p:nvSpPr>
          <p:cNvPr id="34" name="Text 31"/>
          <p:cNvSpPr/>
          <p:nvPr/>
        </p:nvSpPr>
        <p:spPr>
          <a:xfrm>
            <a:off x="3166454" y="3024849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Per-persona, 5 templates</a:t>
            </a:r>
            <a:endParaRPr lang="en-US" sz="790" dirty="0"/>
          </a:p>
        </p:txBody>
      </p:sp>
      <p:sp>
        <p:nvSpPr>
          <p:cNvPr id="35" name="Text 32"/>
          <p:cNvSpPr/>
          <p:nvPr/>
        </p:nvSpPr>
        <p:spPr>
          <a:xfrm>
            <a:off x="3166454" y="3162565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Hard facts injected (Jinja2)</a:t>
            </a:r>
            <a:endParaRPr lang="en-US" sz="790" dirty="0"/>
          </a:p>
        </p:txBody>
      </p:sp>
      <p:sp>
        <p:nvSpPr>
          <p:cNvPr id="36" name="Text 33"/>
          <p:cNvSpPr/>
          <p:nvPr/>
        </p:nvSpPr>
        <p:spPr>
          <a:xfrm>
            <a:off x="3166454" y="3300280"/>
            <a:ext cx="2020437" cy="210868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5000"/>
              </a:lnSpc>
              <a:buNone/>
            </a:pPr>
            <a:r>
              <a:rPr lang="en-US" sz="79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🛡️ Drift validation (deterministic)</a:t>
            </a:r>
            <a:endParaRPr lang="en-US" sz="790" dirty="0"/>
          </a:p>
        </p:txBody>
      </p:sp>
      <p:sp>
        <p:nvSpPr>
          <p:cNvPr id="37" name="Text 34"/>
          <p:cNvSpPr/>
          <p:nvPr/>
        </p:nvSpPr>
        <p:spPr>
          <a:xfrm>
            <a:off x="541853" y="2675467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Pipeline complete</a:t>
            </a:r>
            <a:endParaRPr lang="en-US" sz="1010" dirty="0"/>
          </a:p>
        </p:txBody>
      </p:sp>
      <p:sp>
        <p:nvSpPr>
          <p:cNvPr id="38" name="Text 35"/>
          <p:cNvSpPr/>
          <p:nvPr/>
        </p:nvSpPr>
        <p:spPr>
          <a:xfrm>
            <a:off x="541853" y="2860675"/>
            <a:ext cx="2020437" cy="20345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6 stages done — status → review</a:t>
            </a:r>
            <a:endParaRPr lang="en-US" sz="830" dirty="0"/>
          </a:p>
        </p:txBody>
      </p:sp>
      <p:sp>
        <p:nvSpPr>
          <p:cNvPr id="39" name="Text 36"/>
          <p:cNvSpPr/>
          <p:nvPr/>
        </p:nvSpPr>
        <p:spPr>
          <a:xfrm>
            <a:off x="541853" y="3041782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Teams + Outlook: Creatives ready</a:t>
            </a:r>
            <a:endParaRPr lang="en-US" sz="710" dirty="0"/>
          </a:p>
        </p:txBody>
      </p:sp>
      <p:sp>
        <p:nvSpPr>
          <p:cNvPr id="40" name="Text 37"/>
          <p:cNvSpPr/>
          <p:nvPr/>
        </p:nvSpPr>
        <p:spPr>
          <a:xfrm>
            <a:off x="541853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reviews all</a:t>
            </a:r>
            <a:endParaRPr lang="en-US" sz="1010" dirty="0"/>
          </a:p>
        </p:txBody>
      </p:sp>
      <p:sp>
        <p:nvSpPr>
          <p:cNvPr id="41" name="Text 38"/>
          <p:cNvSpPr/>
          <p:nvPr/>
        </p:nvSpPr>
        <p:spPr>
          <a:xfrm>
            <a:off x="541853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Strategy, creatives, copy, AND landing pages — edits inline</a:t>
            </a:r>
            <a:endParaRPr lang="en-US" sz="830" dirty="0"/>
          </a:p>
        </p:txBody>
      </p:sp>
      <p:sp>
        <p:nvSpPr>
          <p:cNvPr id="42" name="Text 39"/>
          <p:cNvSpPr/>
          <p:nvPr/>
        </p:nvSpPr>
        <p:spPr>
          <a:xfrm>
            <a:off x="541853" y="4865423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Gate 1 — includes LP review</a:t>
            </a:r>
            <a:endParaRPr lang="en-US" sz="710" dirty="0"/>
          </a:p>
        </p:txBody>
      </p:sp>
      <p:sp>
        <p:nvSpPr>
          <p:cNvPr id="43" name="Text 40"/>
          <p:cNvSpPr/>
          <p:nvPr/>
        </p:nvSpPr>
        <p:spPr>
          <a:xfrm>
            <a:off x="3166454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Designer polishes + deploys</a:t>
            </a:r>
            <a:endParaRPr lang="en-US" sz="1010" dirty="0"/>
          </a:p>
        </p:txBody>
      </p:sp>
      <p:sp>
        <p:nvSpPr>
          <p:cNvPr id="44" name="Text 41"/>
          <p:cNvSpPr/>
          <p:nvPr/>
        </p:nvSpPr>
        <p:spPr>
          <a:xfrm>
            <a:off x="3166454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Creatives + Figma + LP edits in Dreamweaver → FTP to WordPress</a:t>
            </a:r>
            <a:endParaRPr lang="en-US" sz="830" dirty="0"/>
          </a:p>
        </p:txBody>
      </p:sp>
      <p:sp>
        <p:nvSpPr>
          <p:cNvPr id="45" name="Text 42"/>
          <p:cNvSpPr/>
          <p:nvPr/>
        </p:nvSpPr>
        <p:spPr>
          <a:xfrm>
            <a:off x="3166454" y="4865423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Gate 2 — LP URL auto-captured</a:t>
            </a:r>
            <a:endParaRPr lang="en-US" sz="710" dirty="0"/>
          </a:p>
        </p:txBody>
      </p:sp>
      <p:sp>
        <p:nvSpPr>
          <p:cNvPr id="46" name="Text 43"/>
          <p:cNvSpPr/>
          <p:nvPr/>
        </p:nvSpPr>
        <p:spPr>
          <a:xfrm>
            <a:off x="5791055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Final approval</a:t>
            </a:r>
            <a:endParaRPr lang="en-US" sz="1010" dirty="0"/>
          </a:p>
        </p:txBody>
      </p:sp>
      <p:sp>
        <p:nvSpPr>
          <p:cNvPr id="47" name="Text 44"/>
          <p:cNvSpPr/>
          <p:nvPr/>
        </p:nvSpPr>
        <p:spPr>
          <a:xfrm>
            <a:off x="5791055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Marketing Manager signs off — status → sent</a:t>
            </a:r>
            <a:endParaRPr lang="en-US" sz="830" dirty="0"/>
          </a:p>
        </p:txBody>
      </p:sp>
      <p:sp>
        <p:nvSpPr>
          <p:cNvPr id="48" name="Text 45"/>
          <p:cNvSpPr/>
          <p:nvPr/>
        </p:nvSpPr>
        <p:spPr>
          <a:xfrm>
            <a:off x="5791055" y="4865423"/>
            <a:ext cx="2020437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Gate 3 — ✓ Approved</a:t>
            </a:r>
            <a:endParaRPr lang="en-US" sz="710" dirty="0"/>
          </a:p>
        </p:txBody>
      </p:sp>
      <p:sp>
        <p:nvSpPr>
          <p:cNvPr id="49" name="Text 46"/>
          <p:cNvSpPr/>
          <p:nvPr/>
        </p:nvSpPr>
        <p:spPr>
          <a:xfrm>
            <a:off x="8415656" y="4368800"/>
            <a:ext cx="2020437" cy="21602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1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Delivery</a:t>
            </a:r>
            <a:endParaRPr lang="en-US" sz="1010" dirty="0"/>
          </a:p>
        </p:txBody>
      </p:sp>
      <p:sp>
        <p:nvSpPr>
          <p:cNvPr id="50" name="Text 47"/>
          <p:cNvSpPr/>
          <p:nvPr/>
        </p:nvSpPr>
        <p:spPr>
          <a:xfrm>
            <a:off x="8415656" y="4554008"/>
            <a:ext cx="2020437" cy="333767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830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Agency magic link + recruiter library + live WP landing pages</a:t>
            </a:r>
            <a:endParaRPr lang="en-US" sz="830" dirty="0"/>
          </a:p>
        </p:txBody>
      </p:sp>
      <p:sp>
        <p:nvSpPr>
          <p:cNvPr id="51" name="Text 48"/>
          <p:cNvSpPr/>
          <p:nvPr/>
        </p:nvSpPr>
        <p:spPr>
          <a:xfrm>
            <a:off x="8415656" y="4865423"/>
            <a:ext cx="2020437" cy="208619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b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📩 Teams + Outlook to all</a:t>
            </a:r>
            <a:endParaRPr lang="en-US" sz="710" dirty="0"/>
          </a:p>
        </p:txBody>
      </p:sp>
      <p:sp>
        <p:nvSpPr>
          <p:cNvPr id="52" name="Text 49"/>
          <p:cNvSpPr/>
          <p:nvPr/>
        </p:nvSpPr>
        <p:spPr>
          <a:xfrm>
            <a:off x="372524" y="5588000"/>
            <a:ext cx="7564642" cy="166285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10" i="1" dirty="0">
                <a:solidFill>
                  <a:srgbClr val="9CA3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Kimi K2.5 (research) · Qwen 3.5 397B (reasoning) · Gemma 3 27B (copy) · Gemma 4 31B (VQA/storyboard) · GLM-5 (design/HTML) · Seedream 4.5 (images) · Flux 2 Pro (edit) · Kling V3 (video)</a:t>
            </a:r>
            <a:endParaRPr lang="en-US" sz="710" dirty="0"/>
          </a:p>
        </p:txBody>
      </p:sp>
      <p:sp>
        <p:nvSpPr>
          <p:cNvPr id="53" name="Text 50"/>
          <p:cNvSpPr/>
          <p:nvPr/>
        </p:nvSpPr>
        <p:spPr>
          <a:xfrm>
            <a:off x="372524" y="6637867"/>
            <a:ext cx="834736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Pipeline stage</a:t>
            </a:r>
            <a:endParaRPr lang="en-US" sz="750" dirty="0"/>
          </a:p>
        </p:txBody>
      </p:sp>
      <p:sp>
        <p:nvSpPr>
          <p:cNvPr id="54" name="Text 51"/>
          <p:cNvSpPr/>
          <p:nvPr/>
        </p:nvSpPr>
        <p:spPr>
          <a:xfrm>
            <a:off x="1303437" y="6637867"/>
            <a:ext cx="822036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 action</a:t>
            </a:r>
            <a:endParaRPr lang="en-US" sz="750" dirty="0"/>
          </a:p>
        </p:txBody>
      </p:sp>
      <p:sp>
        <p:nvSpPr>
          <p:cNvPr id="55" name="Text 52"/>
          <p:cNvSpPr/>
          <p:nvPr/>
        </p:nvSpPr>
        <p:spPr>
          <a:xfrm>
            <a:off x="2221651" y="6637867"/>
            <a:ext cx="831561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Stage 6 (new)</a:t>
            </a:r>
            <a:endParaRPr lang="en-US" sz="750" dirty="0"/>
          </a:p>
        </p:txBody>
      </p:sp>
      <p:sp>
        <p:nvSpPr>
          <p:cNvPr id="56" name="Text 53"/>
          <p:cNvSpPr/>
          <p:nvPr/>
        </p:nvSpPr>
        <p:spPr>
          <a:xfrm>
            <a:off x="3149389" y="6637867"/>
            <a:ext cx="1008166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b="1" dirty="0">
                <a:solidFill>
                  <a:srgbClr val="6B728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Notification / Gate</a:t>
            </a:r>
            <a:endParaRPr lang="en-US" sz="750" dirty="0"/>
          </a:p>
        </p:txBody>
      </p:sp>
      <p:sp>
        <p:nvSpPr>
          <p:cNvPr id="57" name="Text 54"/>
          <p:cNvSpPr/>
          <p:nvPr/>
        </p:nvSpPr>
        <p:spPr>
          <a:xfrm>
            <a:off x="10343891" y="6637867"/>
            <a:ext cx="1616163" cy="174752"/>
          </a:xfrm>
          <a:prstGeom prst="rect">
            <a:avLst/>
          </a:prstGeom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750" dirty="0">
                <a:solidFill>
                  <a:srgbClr val="B0B8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Nova Creative Operations · OneForma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1657</Words>
  <Application>Microsoft Macintosh PowerPoint</Application>
  <PresentationFormat>Widescreen</PresentationFormat>
  <Paragraphs>300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Helvetica Neue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Nova Workflow Maps — OneForma</dc:title>
  <dc:subject>PptxGenJS Presentation</dc:subject>
  <dc:creator>Nova Creative Operations</dc:creator>
  <cp:lastModifiedBy>JUNOP, STEVEN</cp:lastModifiedBy>
  <cp:revision>2</cp:revision>
  <dcterms:created xsi:type="dcterms:W3CDTF">2026-04-13T17:48:40Z</dcterms:created>
  <dcterms:modified xsi:type="dcterms:W3CDTF">2026-04-13T17:57:09Z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522be54-2b2f-4f91-a48b-bfc4a6957e8f_Enabled">
    <vt:lpwstr>true</vt:lpwstr>
  </property>
  <property fmtid="{D5CDD505-2E9C-101B-9397-08002B2CF9AE}" pid="3" name="MSIP_Label_6522be54-2b2f-4f91-a48b-bfc4a6957e8f_SetDate">
    <vt:lpwstr>2026-04-13T17:57:09Z</vt:lpwstr>
  </property>
  <property fmtid="{D5CDD505-2E9C-101B-9397-08002B2CF9AE}" pid="4" name="MSIP_Label_6522be54-2b2f-4f91-a48b-bfc4a6957e8f_Method">
    <vt:lpwstr>Standard</vt:lpwstr>
  </property>
  <property fmtid="{D5CDD505-2E9C-101B-9397-08002B2CF9AE}" pid="5" name="MSIP_Label_6522be54-2b2f-4f91-a48b-bfc4a6957e8f_Name">
    <vt:lpwstr>Internal</vt:lpwstr>
  </property>
  <property fmtid="{D5CDD505-2E9C-101B-9397-08002B2CF9AE}" pid="6" name="MSIP_Label_6522be54-2b2f-4f91-a48b-bfc4a6957e8f_SiteId">
    <vt:lpwstr>e5f361ea-9718-4722-ba2d-d4fcf48d6931</vt:lpwstr>
  </property>
  <property fmtid="{D5CDD505-2E9C-101B-9397-08002B2CF9AE}" pid="7" name="MSIP_Label_6522be54-2b2f-4f91-a48b-bfc4a6957e8f_ActionId">
    <vt:lpwstr>1bee3704-b5da-4d08-8c80-6ffa6cd18d72</vt:lpwstr>
  </property>
  <property fmtid="{D5CDD505-2E9C-101B-9397-08002B2CF9AE}" pid="8" name="MSIP_Label_6522be54-2b2f-4f91-a48b-bfc4a6957e8f_ContentBits">
    <vt:lpwstr>1</vt:lpwstr>
  </property>
  <property fmtid="{D5CDD505-2E9C-101B-9397-08002B2CF9AE}" pid="9" name="MSIP_Label_6522be54-2b2f-4f91-a48b-bfc4a6957e8f_Tag">
    <vt:lpwstr>50, 3, 0, 1</vt:lpwstr>
  </property>
  <property fmtid="{D5CDD505-2E9C-101B-9397-08002B2CF9AE}" pid="10" name="ClassificationContentMarkingHeaderLocations">
    <vt:lpwstr>Office Theme:3</vt:lpwstr>
  </property>
  <property fmtid="{D5CDD505-2E9C-101B-9397-08002B2CF9AE}" pid="11" name="ClassificationContentMarkingHeaderText">
    <vt:lpwstr>Internal</vt:lpwstr>
  </property>
</Properties>
</file>