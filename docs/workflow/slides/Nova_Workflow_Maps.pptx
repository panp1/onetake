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04792" y="127000"/>
            <a:ext cx="2148576" cy="32512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Recruiter Workflow</a:t>
            </a:r>
            <a:endParaRPr lang="en-US" sz="2100" dirty="0"/>
          </a:p>
        </p:txBody>
      </p:sp>
      <p:sp>
        <p:nvSpPr>
          <p:cNvPr id="4" name="Text 1"/>
          <p:cNvSpPr/>
          <p:nvPr/>
        </p:nvSpPr>
        <p:spPr>
          <a:xfrm>
            <a:off x="541853" y="982133"/>
            <a:ext cx="1993005" cy="18859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10" b="1" dirty="0">
                <a:solidFill>
                  <a:srgbClr val="1A1A2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Receive job description</a:t>
            </a:r>
            <a:endParaRPr lang="en-US" sz="1010" dirty="0"/>
          </a:p>
        </p:txBody>
      </p:sp>
      <p:sp>
        <p:nvSpPr>
          <p:cNvPr id="5" name="Text 2"/>
          <p:cNvSpPr/>
          <p:nvPr/>
        </p:nvSpPr>
        <p:spPr>
          <a:xfrm>
            <a:off x="541853" y="1167342"/>
            <a:ext cx="1993005" cy="30633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30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Recruiter gets JD or RFP from hiring team — ready to submit</a:t>
            </a:r>
            <a:endParaRPr lang="en-US" sz="830" dirty="0"/>
          </a:p>
        </p:txBody>
      </p:sp>
      <p:sp>
        <p:nvSpPr>
          <p:cNvPr id="6" name="Text 3"/>
          <p:cNvSpPr/>
          <p:nvPr/>
        </p:nvSpPr>
        <p:spPr>
          <a:xfrm>
            <a:off x="3166454" y="982133"/>
            <a:ext cx="1993005" cy="18859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10" b="1" dirty="0">
                <a:solidFill>
                  <a:srgbClr val="1A1A2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Upload or paste RFP</a:t>
            </a:r>
            <a:endParaRPr lang="en-US" sz="1010" dirty="0"/>
          </a:p>
        </p:txBody>
      </p:sp>
      <p:sp>
        <p:nvSpPr>
          <p:cNvPr id="7" name="Text 4"/>
          <p:cNvSpPr/>
          <p:nvPr/>
        </p:nvSpPr>
        <p:spPr>
          <a:xfrm>
            <a:off x="3166454" y="1167342"/>
            <a:ext cx="1993005" cy="30633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30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Step 1 of intake wizard — AI extracts task type, regions, qualifications automatically</a:t>
            </a:r>
            <a:endParaRPr lang="en-US" sz="830" dirty="0"/>
          </a:p>
        </p:txBody>
      </p:sp>
      <p:sp>
        <p:nvSpPr>
          <p:cNvPr id="8" name="Text 5"/>
          <p:cNvSpPr/>
          <p:nvPr/>
        </p:nvSpPr>
        <p:spPr>
          <a:xfrm>
            <a:off x="3166454" y="1478756"/>
            <a:ext cx="1993005" cy="138853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710" b="1" dirty="0">
                <a:solidFill>
                  <a:srgbClr val="9CA3A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Or skip → manual entry</a:t>
            </a:r>
            <a:endParaRPr lang="en-US" sz="710" dirty="0"/>
          </a:p>
        </p:txBody>
      </p:sp>
      <p:sp>
        <p:nvSpPr>
          <p:cNvPr id="9" name="Text 6"/>
          <p:cNvSpPr/>
          <p:nvPr/>
        </p:nvSpPr>
        <p:spPr>
          <a:xfrm>
            <a:off x="5791055" y="982133"/>
            <a:ext cx="1993005" cy="18859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10" b="1" dirty="0">
                <a:solidFill>
                  <a:srgbClr val="1A1A2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Fill project details</a:t>
            </a:r>
            <a:endParaRPr lang="en-US" sz="1010" dirty="0"/>
          </a:p>
        </p:txBody>
      </p:sp>
      <p:sp>
        <p:nvSpPr>
          <p:cNvPr id="10" name="Text 7"/>
          <p:cNvSpPr/>
          <p:nvPr/>
        </p:nvSpPr>
        <p:spPr>
          <a:xfrm>
            <a:off x="5791055" y="1167342"/>
            <a:ext cx="1993005" cy="176027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30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Steps 2-4 of wizard</a:t>
            </a:r>
            <a:endParaRPr lang="en-US" sz="830" dirty="0"/>
          </a:p>
        </p:txBody>
      </p:sp>
      <p:sp>
        <p:nvSpPr>
          <p:cNvPr id="11" name="Text 8"/>
          <p:cNvSpPr/>
          <p:nvPr/>
        </p:nvSpPr>
        <p:spPr>
          <a:xfrm>
            <a:off x="5791055" y="1331516"/>
            <a:ext cx="1993005" cy="183436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790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Task type &amp; work mode</a:t>
            </a:r>
            <a:endParaRPr lang="en-US" sz="790" dirty="0"/>
          </a:p>
        </p:txBody>
      </p:sp>
      <p:sp>
        <p:nvSpPr>
          <p:cNvPr id="12" name="Text 9"/>
          <p:cNvSpPr/>
          <p:nvPr/>
        </p:nvSpPr>
        <p:spPr>
          <a:xfrm>
            <a:off x="5791055" y="1469231"/>
            <a:ext cx="1993005" cy="183436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790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Title, volume, regions</a:t>
            </a:r>
            <a:endParaRPr lang="en-US" sz="790" dirty="0"/>
          </a:p>
        </p:txBody>
      </p:sp>
      <p:sp>
        <p:nvSpPr>
          <p:cNvPr id="13" name="Text 10"/>
          <p:cNvSpPr/>
          <p:nvPr/>
        </p:nvSpPr>
        <p:spPr>
          <a:xfrm>
            <a:off x="5791055" y="1606947"/>
            <a:ext cx="1993005" cy="183436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790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Qualifications &amp; AIDA form</a:t>
            </a:r>
            <a:endParaRPr lang="en-US" sz="790" dirty="0"/>
          </a:p>
        </p:txBody>
      </p:sp>
      <p:sp>
        <p:nvSpPr>
          <p:cNvPr id="14" name="Text 11"/>
          <p:cNvSpPr/>
          <p:nvPr/>
        </p:nvSpPr>
        <p:spPr>
          <a:xfrm>
            <a:off x="8415656" y="982133"/>
            <a:ext cx="1993005" cy="18859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10" b="1" dirty="0">
                <a:solidFill>
                  <a:srgbClr val="1A1A2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Review &amp; submit</a:t>
            </a:r>
            <a:endParaRPr lang="en-US" sz="1010" dirty="0"/>
          </a:p>
        </p:txBody>
      </p:sp>
      <p:sp>
        <p:nvSpPr>
          <p:cNvPr id="15" name="Text 12"/>
          <p:cNvSpPr/>
          <p:nvPr/>
        </p:nvSpPr>
        <p:spPr>
          <a:xfrm>
            <a:off x="8415656" y="1167342"/>
            <a:ext cx="1993005" cy="30633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30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Step 5 — verify all fields, click Submit Request</a:t>
            </a:r>
            <a:endParaRPr lang="en-US" sz="830" dirty="0"/>
          </a:p>
        </p:txBody>
      </p:sp>
      <p:sp>
        <p:nvSpPr>
          <p:cNvPr id="16" name="Text 13"/>
          <p:cNvSpPr/>
          <p:nvPr/>
        </p:nvSpPr>
        <p:spPr>
          <a:xfrm>
            <a:off x="8415656" y="1478756"/>
            <a:ext cx="1993005" cy="138853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710" b="1" dirty="0">
                <a:solidFill>
                  <a:srgbClr val="9CA3A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Request created → status: draft</a:t>
            </a:r>
            <a:endParaRPr lang="en-US" sz="710" dirty="0"/>
          </a:p>
        </p:txBody>
      </p:sp>
      <p:sp>
        <p:nvSpPr>
          <p:cNvPr id="17" name="Text 14"/>
          <p:cNvSpPr/>
          <p:nvPr/>
        </p:nvSpPr>
        <p:spPr>
          <a:xfrm>
            <a:off x="8415656" y="2675467"/>
            <a:ext cx="1993005" cy="18859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10" b="1" dirty="0">
                <a:solidFill>
                  <a:srgbClr val="1A1A2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Pipeline auto-generates</a:t>
            </a:r>
            <a:endParaRPr lang="en-US" sz="1010" dirty="0"/>
          </a:p>
        </p:txBody>
      </p:sp>
      <p:sp>
        <p:nvSpPr>
          <p:cNvPr id="18" name="Text 15"/>
          <p:cNvSpPr/>
          <p:nvPr/>
        </p:nvSpPr>
        <p:spPr>
          <a:xfrm>
            <a:off x="8415656" y="2860675"/>
            <a:ext cx="1993005" cy="436642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30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6-stage AI pipeline runs — personas, images, copy, creatives, video, landing pages</a:t>
            </a:r>
            <a:endParaRPr lang="en-US" sz="830" dirty="0"/>
          </a:p>
        </p:txBody>
      </p:sp>
      <p:sp>
        <p:nvSpPr>
          <p:cNvPr id="19" name="Text 16"/>
          <p:cNvSpPr/>
          <p:nvPr/>
        </p:nvSpPr>
        <p:spPr>
          <a:xfrm>
            <a:off x="8415656" y="3302397"/>
            <a:ext cx="1993005" cy="14732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710" b="1" dirty="0">
                <a:solidFill>
                  <a:srgbClr val="9CA3A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⏱ ~15–30 minutes</a:t>
            </a:r>
            <a:endParaRPr lang="en-US" sz="710" dirty="0"/>
          </a:p>
        </p:txBody>
      </p:sp>
      <p:sp>
        <p:nvSpPr>
          <p:cNvPr id="20" name="Text 17"/>
          <p:cNvSpPr/>
          <p:nvPr/>
        </p:nvSpPr>
        <p:spPr>
          <a:xfrm>
            <a:off x="5791055" y="2675467"/>
            <a:ext cx="1993005" cy="18859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10" b="1" dirty="0">
                <a:solidFill>
                  <a:srgbClr val="1A1A2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Notification received</a:t>
            </a:r>
            <a:endParaRPr lang="en-US" sz="1010" dirty="0"/>
          </a:p>
        </p:txBody>
      </p:sp>
      <p:sp>
        <p:nvSpPr>
          <p:cNvPr id="21" name="Text 18"/>
          <p:cNvSpPr/>
          <p:nvPr/>
        </p:nvSpPr>
        <p:spPr>
          <a:xfrm>
            <a:off x="5791055" y="2860675"/>
            <a:ext cx="1993005" cy="30633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30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Teams + Outlook email: "Your campaign creatives are ready for review"</a:t>
            </a:r>
            <a:endParaRPr lang="en-US" sz="830" dirty="0"/>
          </a:p>
        </p:txBody>
      </p:sp>
      <p:sp>
        <p:nvSpPr>
          <p:cNvPr id="22" name="Text 19"/>
          <p:cNvSpPr/>
          <p:nvPr/>
        </p:nvSpPr>
        <p:spPr>
          <a:xfrm>
            <a:off x="5791055" y="3172090"/>
            <a:ext cx="1993005" cy="181187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710" b="1" dirty="0">
                <a:solidFill>
                  <a:srgbClr val="9CA3A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📩 Teams + Outlook</a:t>
            </a:r>
            <a:endParaRPr lang="en-US" sz="710" dirty="0"/>
          </a:p>
        </p:txBody>
      </p:sp>
      <p:sp>
        <p:nvSpPr>
          <p:cNvPr id="23" name="Text 20"/>
          <p:cNvSpPr/>
          <p:nvPr/>
        </p:nvSpPr>
        <p:spPr>
          <a:xfrm>
            <a:off x="3166454" y="2675467"/>
            <a:ext cx="1993005" cy="18859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10" b="1" dirty="0">
                <a:solidFill>
                  <a:srgbClr val="1A1A2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Open Creative Library</a:t>
            </a:r>
            <a:endParaRPr lang="en-US" sz="1010" dirty="0"/>
          </a:p>
        </p:txBody>
      </p:sp>
      <p:sp>
        <p:nvSpPr>
          <p:cNvPr id="24" name="Text 21"/>
          <p:cNvSpPr/>
          <p:nvPr/>
        </p:nvSpPr>
        <p:spPr>
          <a:xfrm>
            <a:off x="3166454" y="2860675"/>
            <a:ext cx="1993005" cy="436642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30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View all composed creatives filtered by channel tabs — Meta, LinkedIn, TikTok, Google</a:t>
            </a:r>
            <a:endParaRPr lang="en-US" sz="830" dirty="0"/>
          </a:p>
        </p:txBody>
      </p:sp>
      <p:sp>
        <p:nvSpPr>
          <p:cNvPr id="25" name="Text 22"/>
          <p:cNvSpPr/>
          <p:nvPr/>
        </p:nvSpPr>
        <p:spPr>
          <a:xfrm>
            <a:off x="541853" y="2675467"/>
            <a:ext cx="1993005" cy="18859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10" b="1" dirty="0">
                <a:solidFill>
                  <a:srgbClr val="1A1A2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Build UTM tracked links</a:t>
            </a:r>
            <a:endParaRPr lang="en-US" sz="1010" dirty="0"/>
          </a:p>
        </p:txBody>
      </p:sp>
      <p:sp>
        <p:nvSpPr>
          <p:cNvPr id="26" name="Text 23"/>
          <p:cNvSpPr/>
          <p:nvPr/>
        </p:nvSpPr>
        <p:spPr>
          <a:xfrm>
            <a:off x="541853" y="2860675"/>
            <a:ext cx="1993005" cy="176027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30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Sticky Link Builder panel</a:t>
            </a:r>
            <a:endParaRPr lang="en-US" sz="830" dirty="0"/>
          </a:p>
        </p:txBody>
      </p:sp>
      <p:sp>
        <p:nvSpPr>
          <p:cNvPr id="27" name="Text 24"/>
          <p:cNvSpPr/>
          <p:nvPr/>
        </p:nvSpPr>
        <p:spPr>
          <a:xfrm>
            <a:off x="541853" y="3024849"/>
            <a:ext cx="1993005" cy="183436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790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Select base URL</a:t>
            </a:r>
            <a:endParaRPr lang="en-US" sz="790" dirty="0"/>
          </a:p>
        </p:txBody>
      </p:sp>
      <p:sp>
        <p:nvSpPr>
          <p:cNvPr id="28" name="Text 25"/>
          <p:cNvSpPr/>
          <p:nvPr/>
        </p:nvSpPr>
        <p:spPr>
          <a:xfrm>
            <a:off x="541853" y="3162565"/>
            <a:ext cx="1993005" cy="183436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790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Auto-generates UTM params</a:t>
            </a:r>
            <a:endParaRPr lang="en-US" sz="790" dirty="0"/>
          </a:p>
        </p:txBody>
      </p:sp>
      <p:sp>
        <p:nvSpPr>
          <p:cNvPr id="29" name="Text 26"/>
          <p:cNvSpPr/>
          <p:nvPr/>
        </p:nvSpPr>
        <p:spPr>
          <a:xfrm>
            <a:off x="541853" y="3300280"/>
            <a:ext cx="1993005" cy="183436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790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Copy short link</a:t>
            </a:r>
            <a:endParaRPr lang="en-US" sz="790" dirty="0"/>
          </a:p>
        </p:txBody>
      </p:sp>
      <p:sp>
        <p:nvSpPr>
          <p:cNvPr id="30" name="Text 27"/>
          <p:cNvSpPr/>
          <p:nvPr/>
        </p:nvSpPr>
        <p:spPr>
          <a:xfrm>
            <a:off x="541853" y="4368800"/>
            <a:ext cx="1993005" cy="18859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10" b="1" dirty="0">
                <a:solidFill>
                  <a:srgbClr val="1A1A2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View landing pages</a:t>
            </a:r>
            <a:endParaRPr lang="en-US" sz="1010" dirty="0"/>
          </a:p>
        </p:txBody>
      </p:sp>
      <p:sp>
        <p:nvSpPr>
          <p:cNvPr id="31" name="Text 28"/>
          <p:cNvSpPr/>
          <p:nvPr/>
        </p:nvSpPr>
        <p:spPr>
          <a:xfrm>
            <a:off x="541853" y="4554008"/>
            <a:ext cx="1993005" cy="30633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30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Per-persona /lp/ URLs available — copy for ad campaign destinations</a:t>
            </a:r>
            <a:endParaRPr lang="en-US" sz="830" dirty="0"/>
          </a:p>
        </p:txBody>
      </p:sp>
      <p:sp>
        <p:nvSpPr>
          <p:cNvPr id="32" name="Text 29"/>
          <p:cNvSpPr/>
          <p:nvPr/>
        </p:nvSpPr>
        <p:spPr>
          <a:xfrm>
            <a:off x="541853" y="4865423"/>
            <a:ext cx="1993005" cy="181187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710" b="1" dirty="0">
                <a:solidFill>
                  <a:srgbClr val="9CA3A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🔗 Landing page URLs</a:t>
            </a:r>
            <a:endParaRPr lang="en-US" sz="710" dirty="0"/>
          </a:p>
        </p:txBody>
      </p:sp>
      <p:sp>
        <p:nvSpPr>
          <p:cNvPr id="33" name="Text 30"/>
          <p:cNvSpPr/>
          <p:nvPr/>
        </p:nvSpPr>
        <p:spPr>
          <a:xfrm>
            <a:off x="3166454" y="4368800"/>
            <a:ext cx="1993005" cy="18859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10" b="1" dirty="0">
                <a:solidFill>
                  <a:srgbClr val="1A1A2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Share with candidates</a:t>
            </a:r>
            <a:endParaRPr lang="en-US" sz="1010" dirty="0"/>
          </a:p>
        </p:txBody>
      </p:sp>
      <p:sp>
        <p:nvSpPr>
          <p:cNvPr id="34" name="Text 31"/>
          <p:cNvSpPr/>
          <p:nvPr/>
        </p:nvSpPr>
        <p:spPr>
          <a:xfrm>
            <a:off x="3166454" y="4554008"/>
            <a:ext cx="1993005" cy="30633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30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Distribute tracked links via email, social media, job boards, and direct outreach</a:t>
            </a:r>
            <a:endParaRPr lang="en-US" sz="830" dirty="0"/>
          </a:p>
        </p:txBody>
      </p:sp>
      <p:sp>
        <p:nvSpPr>
          <p:cNvPr id="35" name="Text 32"/>
          <p:cNvSpPr/>
          <p:nvPr/>
        </p:nvSpPr>
        <p:spPr>
          <a:xfrm>
            <a:off x="5791055" y="4368800"/>
            <a:ext cx="1993005" cy="18859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10" b="1" dirty="0">
                <a:solidFill>
                  <a:srgbClr val="1A1A2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Download creatives</a:t>
            </a:r>
            <a:endParaRPr lang="en-US" sz="1010" dirty="0"/>
          </a:p>
        </p:txBody>
      </p:sp>
      <p:sp>
        <p:nvSpPr>
          <p:cNvPr id="36" name="Text 33"/>
          <p:cNvSpPr/>
          <p:nvPr/>
        </p:nvSpPr>
        <p:spPr>
          <a:xfrm>
            <a:off x="5791055" y="4554008"/>
            <a:ext cx="1993005" cy="30633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30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Download individual creatives or batch download for offline use</a:t>
            </a:r>
            <a:endParaRPr lang="en-US" sz="830" dirty="0"/>
          </a:p>
        </p:txBody>
      </p:sp>
      <p:sp>
        <p:nvSpPr>
          <p:cNvPr id="37" name="Text 34"/>
          <p:cNvSpPr/>
          <p:nvPr/>
        </p:nvSpPr>
        <p:spPr>
          <a:xfrm>
            <a:off x="8246327" y="4470400"/>
            <a:ext cx="1364635" cy="32512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710" i="1" dirty="0">
                <a:solidFill>
                  <a:srgbClr val="9CA3A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Recruiter never sees: raw images,strategy editing, designer tools,pipeline stages, or admin panel.</a:t>
            </a:r>
            <a:endParaRPr lang="en-US" sz="710" dirty="0"/>
          </a:p>
        </p:txBody>
      </p:sp>
      <p:sp>
        <p:nvSpPr>
          <p:cNvPr id="38" name="Text 35"/>
          <p:cNvSpPr/>
          <p:nvPr/>
        </p:nvSpPr>
        <p:spPr>
          <a:xfrm>
            <a:off x="372524" y="6637867"/>
            <a:ext cx="887603" cy="14732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750" b="1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Recruiter action</a:t>
            </a:r>
            <a:endParaRPr lang="en-US" sz="750" dirty="0"/>
          </a:p>
        </p:txBody>
      </p:sp>
      <p:sp>
        <p:nvSpPr>
          <p:cNvPr id="39" name="Text 36"/>
          <p:cNvSpPr/>
          <p:nvPr/>
        </p:nvSpPr>
        <p:spPr>
          <a:xfrm>
            <a:off x="1383736" y="6637867"/>
            <a:ext cx="1056403" cy="14732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750" b="1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System / automated</a:t>
            </a:r>
            <a:endParaRPr lang="en-US" sz="750" dirty="0"/>
          </a:p>
        </p:txBody>
      </p:sp>
      <p:sp>
        <p:nvSpPr>
          <p:cNvPr id="40" name="Text 37"/>
          <p:cNvSpPr/>
          <p:nvPr/>
        </p:nvSpPr>
        <p:spPr>
          <a:xfrm>
            <a:off x="2563748" y="6637867"/>
            <a:ext cx="705707" cy="14732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750" b="1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Notification</a:t>
            </a:r>
            <a:endParaRPr lang="en-US" sz="750" dirty="0"/>
          </a:p>
        </p:txBody>
      </p:sp>
      <p:sp>
        <p:nvSpPr>
          <p:cNvPr id="41" name="Text 38"/>
          <p:cNvSpPr/>
          <p:nvPr/>
        </p:nvSpPr>
        <p:spPr>
          <a:xfrm>
            <a:off x="9937502" y="6637867"/>
            <a:ext cx="1588731" cy="14732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750" dirty="0">
                <a:solidFill>
                  <a:srgbClr val="B0B8C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Nova Creative Operations · OneForma</a:t>
            </a:r>
            <a:endParaRPr lang="en-US" sz="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04792" y="127000"/>
            <a:ext cx="3260592" cy="32512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Marketing Manager Workflow</a:t>
            </a:r>
            <a:endParaRPr lang="en-US" sz="2100" dirty="0"/>
          </a:p>
        </p:txBody>
      </p:sp>
      <p:sp>
        <p:nvSpPr>
          <p:cNvPr id="4" name="Text 1"/>
          <p:cNvSpPr/>
          <p:nvPr/>
        </p:nvSpPr>
        <p:spPr>
          <a:xfrm>
            <a:off x="541853" y="982133"/>
            <a:ext cx="1993005" cy="18859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10" b="1" dirty="0">
                <a:solidFill>
                  <a:srgbClr val="1A1A2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Campaign arrives for review</a:t>
            </a:r>
            <a:endParaRPr lang="en-US" sz="1010" dirty="0"/>
          </a:p>
        </p:txBody>
      </p:sp>
      <p:sp>
        <p:nvSpPr>
          <p:cNvPr id="5" name="Text 2"/>
          <p:cNvSpPr/>
          <p:nvPr/>
        </p:nvSpPr>
        <p:spPr>
          <a:xfrm>
            <a:off x="541853" y="1167342"/>
            <a:ext cx="1993005" cy="176027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30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Request on dashboard with status: review</a:t>
            </a:r>
            <a:endParaRPr lang="en-US" sz="830" dirty="0"/>
          </a:p>
        </p:txBody>
      </p:sp>
      <p:sp>
        <p:nvSpPr>
          <p:cNvPr id="6" name="Text 3"/>
          <p:cNvSpPr/>
          <p:nvPr/>
        </p:nvSpPr>
        <p:spPr>
          <a:xfrm>
            <a:off x="541853" y="1348449"/>
            <a:ext cx="1993005" cy="181187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710" b="1" dirty="0">
                <a:solidFill>
                  <a:srgbClr val="9CA3A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📩 Teams + Outlook notification</a:t>
            </a:r>
            <a:endParaRPr lang="en-US" sz="710" dirty="0"/>
          </a:p>
        </p:txBody>
      </p:sp>
      <p:sp>
        <p:nvSpPr>
          <p:cNvPr id="7" name="Text 4"/>
          <p:cNvSpPr/>
          <p:nvPr/>
        </p:nvSpPr>
        <p:spPr>
          <a:xfrm>
            <a:off x="3166454" y="982133"/>
            <a:ext cx="1993005" cy="18859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10" b="1" dirty="0">
                <a:solidFill>
                  <a:srgbClr val="1A1A2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Review campaign brief</a:t>
            </a:r>
            <a:endParaRPr lang="en-US" sz="1010" dirty="0"/>
          </a:p>
        </p:txBody>
      </p:sp>
      <p:sp>
        <p:nvSpPr>
          <p:cNvPr id="8" name="Text 5"/>
          <p:cNvSpPr/>
          <p:nvPr/>
        </p:nvSpPr>
        <p:spPr>
          <a:xfrm>
            <a:off x="3166454" y="1167342"/>
            <a:ext cx="1993005" cy="176027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30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Campaign Workspace — 3 tabs</a:t>
            </a:r>
            <a:endParaRPr lang="en-US" sz="830" dirty="0"/>
          </a:p>
        </p:txBody>
      </p:sp>
      <p:sp>
        <p:nvSpPr>
          <p:cNvPr id="9" name="Text 6"/>
          <p:cNvSpPr/>
          <p:nvPr/>
        </p:nvSpPr>
        <p:spPr>
          <a:xfrm>
            <a:off x="3166454" y="1331516"/>
            <a:ext cx="1993005" cy="183436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790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Messaging strategy</a:t>
            </a:r>
            <a:endParaRPr lang="en-US" sz="790" dirty="0"/>
          </a:p>
        </p:txBody>
      </p:sp>
      <p:sp>
        <p:nvSpPr>
          <p:cNvPr id="10" name="Text 7"/>
          <p:cNvSpPr/>
          <p:nvPr/>
        </p:nvSpPr>
        <p:spPr>
          <a:xfrm>
            <a:off x="3166454" y="1469231"/>
            <a:ext cx="1993005" cy="183436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790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Channel recommendations</a:t>
            </a:r>
            <a:endParaRPr lang="en-US" sz="790" dirty="0"/>
          </a:p>
        </p:txBody>
      </p:sp>
      <p:sp>
        <p:nvSpPr>
          <p:cNvPr id="11" name="Text 8"/>
          <p:cNvSpPr/>
          <p:nvPr/>
        </p:nvSpPr>
        <p:spPr>
          <a:xfrm>
            <a:off x="3166454" y="1606947"/>
            <a:ext cx="1993005" cy="183436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790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Persona summaries</a:t>
            </a:r>
            <a:endParaRPr lang="en-US" sz="790" dirty="0"/>
          </a:p>
        </p:txBody>
      </p:sp>
      <p:sp>
        <p:nvSpPr>
          <p:cNvPr id="12" name="Text 9"/>
          <p:cNvSpPr/>
          <p:nvPr/>
        </p:nvSpPr>
        <p:spPr>
          <a:xfrm>
            <a:off x="5791055" y="982133"/>
            <a:ext cx="1993005" cy="18859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10" b="1" dirty="0">
                <a:solidFill>
                  <a:srgbClr val="1A1A2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Edit media strategy</a:t>
            </a:r>
            <a:endParaRPr lang="en-US" sz="1010" dirty="0"/>
          </a:p>
        </p:txBody>
      </p:sp>
      <p:sp>
        <p:nvSpPr>
          <p:cNvPr id="13" name="Text 10"/>
          <p:cNvSpPr/>
          <p:nvPr/>
        </p:nvSpPr>
        <p:spPr>
          <a:xfrm>
            <a:off x="5791055" y="1167342"/>
            <a:ext cx="1993005" cy="176027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30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Inline editing with autosave</a:t>
            </a:r>
            <a:endParaRPr lang="en-US" sz="830" dirty="0"/>
          </a:p>
        </p:txBody>
      </p:sp>
      <p:sp>
        <p:nvSpPr>
          <p:cNvPr id="14" name="Text 11"/>
          <p:cNvSpPr/>
          <p:nvPr/>
        </p:nvSpPr>
        <p:spPr>
          <a:xfrm>
            <a:off x="5791055" y="1331516"/>
            <a:ext cx="1993005" cy="183436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790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Channel mix % — auto-rebalance</a:t>
            </a:r>
            <a:endParaRPr lang="en-US" sz="790" dirty="0"/>
          </a:p>
        </p:txBody>
      </p:sp>
      <p:sp>
        <p:nvSpPr>
          <p:cNvPr id="15" name="Text 12"/>
          <p:cNvSpPr/>
          <p:nvPr/>
        </p:nvSpPr>
        <p:spPr>
          <a:xfrm>
            <a:off x="5791055" y="1469231"/>
            <a:ext cx="1993005" cy="183436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790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Ad set daily budgets</a:t>
            </a:r>
            <a:endParaRPr lang="en-US" sz="790" dirty="0"/>
          </a:p>
        </p:txBody>
      </p:sp>
      <p:sp>
        <p:nvSpPr>
          <p:cNvPr id="16" name="Text 13"/>
          <p:cNvSpPr/>
          <p:nvPr/>
        </p:nvSpPr>
        <p:spPr>
          <a:xfrm>
            <a:off x="5791055" y="1606947"/>
            <a:ext cx="1993005" cy="183436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790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Targeting interests per tier</a:t>
            </a:r>
            <a:endParaRPr lang="en-US" sz="790" dirty="0"/>
          </a:p>
        </p:txBody>
      </p:sp>
      <p:sp>
        <p:nvSpPr>
          <p:cNvPr id="17" name="Text 14"/>
          <p:cNvSpPr/>
          <p:nvPr/>
        </p:nvSpPr>
        <p:spPr>
          <a:xfrm>
            <a:off x="8415656" y="982133"/>
            <a:ext cx="1993005" cy="18859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10" b="1" dirty="0">
                <a:solidFill>
                  <a:srgbClr val="1A1A2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Edit ad copy &amp; URLs</a:t>
            </a:r>
            <a:endParaRPr lang="en-US" sz="1010" dirty="0"/>
          </a:p>
        </p:txBody>
      </p:sp>
      <p:sp>
        <p:nvSpPr>
          <p:cNvPr id="18" name="Text 15"/>
          <p:cNvSpPr/>
          <p:nvPr/>
        </p:nvSpPr>
        <p:spPr>
          <a:xfrm>
            <a:off x="8415656" y="1167342"/>
            <a:ext cx="1993005" cy="176027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30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Per-persona inline editing</a:t>
            </a:r>
            <a:endParaRPr lang="en-US" sz="830" dirty="0"/>
          </a:p>
        </p:txBody>
      </p:sp>
      <p:sp>
        <p:nvSpPr>
          <p:cNvPr id="19" name="Text 16"/>
          <p:cNvSpPr/>
          <p:nvPr/>
        </p:nvSpPr>
        <p:spPr>
          <a:xfrm>
            <a:off x="8415656" y="1331516"/>
            <a:ext cx="1993005" cy="183436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790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Headlines, body, CTAs</a:t>
            </a:r>
            <a:endParaRPr lang="en-US" sz="790" dirty="0"/>
          </a:p>
        </p:txBody>
      </p:sp>
      <p:sp>
        <p:nvSpPr>
          <p:cNvPr id="20" name="Text 17"/>
          <p:cNvSpPr/>
          <p:nvPr/>
        </p:nvSpPr>
        <p:spPr>
          <a:xfrm>
            <a:off x="8415656" y="1469231"/>
            <a:ext cx="1993005" cy="183436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790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Landing page URLs</a:t>
            </a:r>
            <a:endParaRPr lang="en-US" sz="790" dirty="0"/>
          </a:p>
        </p:txBody>
      </p:sp>
      <p:sp>
        <p:nvSpPr>
          <p:cNvPr id="21" name="Text 18"/>
          <p:cNvSpPr/>
          <p:nvPr/>
        </p:nvSpPr>
        <p:spPr>
          <a:xfrm>
            <a:off x="8415656" y="1606947"/>
            <a:ext cx="1993005" cy="183436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790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Job posting URL</a:t>
            </a:r>
            <a:endParaRPr lang="en-US" sz="790" dirty="0"/>
          </a:p>
        </p:txBody>
      </p:sp>
      <p:sp>
        <p:nvSpPr>
          <p:cNvPr id="22" name="Text 19"/>
          <p:cNvSpPr/>
          <p:nvPr/>
        </p:nvSpPr>
        <p:spPr>
          <a:xfrm>
            <a:off x="5621726" y="2201333"/>
            <a:ext cx="1865743" cy="138853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710" i="1" dirty="0">
                <a:solidFill>
                  <a:srgbClr val="9CA3A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All edits autosave — 800ms debounce PATCH.</a:t>
            </a:r>
            <a:endParaRPr lang="en-US" sz="710" dirty="0"/>
          </a:p>
        </p:txBody>
      </p:sp>
      <p:sp>
        <p:nvSpPr>
          <p:cNvPr id="23" name="Text 20"/>
          <p:cNvSpPr/>
          <p:nvPr/>
        </p:nvSpPr>
        <p:spPr>
          <a:xfrm>
            <a:off x="8415656" y="2675467"/>
            <a:ext cx="1993005" cy="18859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10" b="1" dirty="0">
                <a:solidFill>
                  <a:srgbClr val="1A1A2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Approve for design</a:t>
            </a:r>
            <a:endParaRPr lang="en-US" sz="1010" dirty="0"/>
          </a:p>
        </p:txBody>
      </p:sp>
      <p:sp>
        <p:nvSpPr>
          <p:cNvPr id="24" name="Text 21"/>
          <p:cNvSpPr/>
          <p:nvPr/>
        </p:nvSpPr>
        <p:spPr>
          <a:xfrm>
            <a:off x="8415656" y="2860675"/>
            <a:ext cx="1993005" cy="30633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30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First approval gate — satisfied with AI output and edits</a:t>
            </a:r>
            <a:endParaRPr lang="en-US" sz="830" dirty="0"/>
          </a:p>
        </p:txBody>
      </p:sp>
      <p:sp>
        <p:nvSpPr>
          <p:cNvPr id="25" name="Text 22"/>
          <p:cNvSpPr/>
          <p:nvPr/>
        </p:nvSpPr>
        <p:spPr>
          <a:xfrm>
            <a:off x="8415656" y="3172090"/>
            <a:ext cx="1993005" cy="181187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710" b="1" dirty="0">
                <a:solidFill>
                  <a:srgbClr val="9CA3A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📩 Teams + Outlook to Designer</a:t>
            </a:r>
            <a:endParaRPr lang="en-US" sz="710" dirty="0"/>
          </a:p>
        </p:txBody>
      </p:sp>
      <p:sp>
        <p:nvSpPr>
          <p:cNvPr id="26" name="Text 23"/>
          <p:cNvSpPr/>
          <p:nvPr/>
        </p:nvSpPr>
        <p:spPr>
          <a:xfrm>
            <a:off x="5791055" y="2675467"/>
            <a:ext cx="1993005" cy="18859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10" b="1" dirty="0">
                <a:solidFill>
                  <a:srgbClr val="1A1A2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Designer polishes creatives</a:t>
            </a:r>
            <a:endParaRPr lang="en-US" sz="1010" dirty="0"/>
          </a:p>
        </p:txBody>
      </p:sp>
      <p:sp>
        <p:nvSpPr>
          <p:cNvPr id="27" name="Text 24"/>
          <p:cNvSpPr/>
          <p:nvPr/>
        </p:nvSpPr>
        <p:spPr>
          <a:xfrm>
            <a:off x="5791055" y="2860675"/>
            <a:ext cx="1993005" cy="30633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30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Marketing Manager waits while designer retouches and exports to Figma</a:t>
            </a:r>
            <a:endParaRPr lang="en-US" sz="830" dirty="0"/>
          </a:p>
        </p:txBody>
      </p:sp>
      <p:sp>
        <p:nvSpPr>
          <p:cNvPr id="28" name="Text 25"/>
          <p:cNvSpPr/>
          <p:nvPr/>
        </p:nvSpPr>
        <p:spPr>
          <a:xfrm>
            <a:off x="5791055" y="3172090"/>
            <a:ext cx="1993005" cy="14732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710" b="1" dirty="0">
                <a:solidFill>
                  <a:srgbClr val="9CA3A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⏱ Designer working</a:t>
            </a:r>
            <a:endParaRPr lang="en-US" sz="710" dirty="0"/>
          </a:p>
        </p:txBody>
      </p:sp>
      <p:sp>
        <p:nvSpPr>
          <p:cNvPr id="29" name="Text 26"/>
          <p:cNvSpPr/>
          <p:nvPr/>
        </p:nvSpPr>
        <p:spPr>
          <a:xfrm>
            <a:off x="3166454" y="2675467"/>
            <a:ext cx="1993005" cy="18859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10" b="1" dirty="0">
                <a:solidFill>
                  <a:srgbClr val="1A1A2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Designer finals submitted</a:t>
            </a:r>
            <a:endParaRPr lang="en-US" sz="1010" dirty="0"/>
          </a:p>
        </p:txBody>
      </p:sp>
      <p:sp>
        <p:nvSpPr>
          <p:cNvPr id="30" name="Text 27"/>
          <p:cNvSpPr/>
          <p:nvPr/>
        </p:nvSpPr>
        <p:spPr>
          <a:xfrm>
            <a:off x="3166454" y="2860675"/>
            <a:ext cx="1993005" cy="30633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30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Notification received — polished creatives ready for final review</a:t>
            </a:r>
            <a:endParaRPr lang="en-US" sz="830" dirty="0"/>
          </a:p>
        </p:txBody>
      </p:sp>
      <p:sp>
        <p:nvSpPr>
          <p:cNvPr id="31" name="Text 28"/>
          <p:cNvSpPr/>
          <p:nvPr/>
        </p:nvSpPr>
        <p:spPr>
          <a:xfrm>
            <a:off x="3166454" y="3172090"/>
            <a:ext cx="1993005" cy="181187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710" b="1" dirty="0">
                <a:solidFill>
                  <a:srgbClr val="9CA3A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📩 Teams + Outlook</a:t>
            </a:r>
            <a:endParaRPr lang="en-US" sz="710" dirty="0"/>
          </a:p>
        </p:txBody>
      </p:sp>
      <p:sp>
        <p:nvSpPr>
          <p:cNvPr id="32" name="Text 29"/>
          <p:cNvSpPr/>
          <p:nvPr/>
        </p:nvSpPr>
        <p:spPr>
          <a:xfrm>
            <a:off x="541853" y="2675467"/>
            <a:ext cx="1993005" cy="18859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10" b="1" dirty="0">
                <a:solidFill>
                  <a:srgbClr val="1A1A2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Final approval</a:t>
            </a:r>
            <a:endParaRPr lang="en-US" sz="1010" dirty="0"/>
          </a:p>
        </p:txBody>
      </p:sp>
      <p:sp>
        <p:nvSpPr>
          <p:cNvPr id="33" name="Text 30"/>
          <p:cNvSpPr/>
          <p:nvPr/>
        </p:nvSpPr>
        <p:spPr>
          <a:xfrm>
            <a:off x="541853" y="2860675"/>
            <a:ext cx="1993005" cy="30633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30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Reviews designer's polished creatives — last quality gate</a:t>
            </a:r>
            <a:endParaRPr lang="en-US" sz="830" dirty="0"/>
          </a:p>
        </p:txBody>
      </p:sp>
      <p:sp>
        <p:nvSpPr>
          <p:cNvPr id="34" name="Text 31"/>
          <p:cNvSpPr/>
          <p:nvPr/>
        </p:nvSpPr>
        <p:spPr>
          <a:xfrm>
            <a:off x="541853" y="3172090"/>
            <a:ext cx="1993005" cy="138853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710" b="1" dirty="0">
                <a:solidFill>
                  <a:srgbClr val="9CA3A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✓ Campaign approved</a:t>
            </a:r>
            <a:endParaRPr lang="en-US" sz="710" dirty="0"/>
          </a:p>
        </p:txBody>
      </p:sp>
      <p:sp>
        <p:nvSpPr>
          <p:cNvPr id="35" name="Text 32"/>
          <p:cNvSpPr/>
          <p:nvPr/>
        </p:nvSpPr>
        <p:spPr>
          <a:xfrm>
            <a:off x="372524" y="3894667"/>
            <a:ext cx="1537404" cy="138853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710" i="1" dirty="0">
                <a:solidFill>
                  <a:srgbClr val="9CA3A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If revision needed → back to designer.</a:t>
            </a:r>
            <a:endParaRPr lang="en-US" sz="710" dirty="0"/>
          </a:p>
        </p:txBody>
      </p:sp>
      <p:sp>
        <p:nvSpPr>
          <p:cNvPr id="36" name="Text 33"/>
          <p:cNvSpPr/>
          <p:nvPr/>
        </p:nvSpPr>
        <p:spPr>
          <a:xfrm>
            <a:off x="541853" y="4368800"/>
            <a:ext cx="1993005" cy="18859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10" b="1" dirty="0">
                <a:solidFill>
                  <a:srgbClr val="1A1A2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Notifications sent</a:t>
            </a:r>
            <a:endParaRPr lang="en-US" sz="1010" dirty="0"/>
          </a:p>
        </p:txBody>
      </p:sp>
      <p:sp>
        <p:nvSpPr>
          <p:cNvPr id="37" name="Text 34"/>
          <p:cNvSpPr/>
          <p:nvPr/>
        </p:nvSpPr>
        <p:spPr>
          <a:xfrm>
            <a:off x="541853" y="4554008"/>
            <a:ext cx="1993005" cy="30633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30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Teams + Outlook to Recruiter ("campaign live") and Agency contact</a:t>
            </a:r>
            <a:endParaRPr lang="en-US" sz="830" dirty="0"/>
          </a:p>
        </p:txBody>
      </p:sp>
      <p:sp>
        <p:nvSpPr>
          <p:cNvPr id="38" name="Text 35"/>
          <p:cNvSpPr/>
          <p:nvPr/>
        </p:nvSpPr>
        <p:spPr>
          <a:xfrm>
            <a:off x="541853" y="4865423"/>
            <a:ext cx="1993005" cy="181187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710" b="1" dirty="0">
                <a:solidFill>
                  <a:srgbClr val="9CA3A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📩 Campaign approved &amp; live</a:t>
            </a:r>
            <a:endParaRPr lang="en-US" sz="710" dirty="0"/>
          </a:p>
        </p:txBody>
      </p:sp>
      <p:sp>
        <p:nvSpPr>
          <p:cNvPr id="39" name="Text 36"/>
          <p:cNvSpPr/>
          <p:nvPr/>
        </p:nvSpPr>
        <p:spPr>
          <a:xfrm>
            <a:off x="3166454" y="4368800"/>
            <a:ext cx="1993005" cy="18859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10" b="1" dirty="0">
                <a:solidFill>
                  <a:srgbClr val="1A1A2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Generate agency magic link</a:t>
            </a:r>
            <a:endParaRPr lang="en-US" sz="1010" dirty="0"/>
          </a:p>
        </p:txBody>
      </p:sp>
      <p:sp>
        <p:nvSpPr>
          <p:cNvPr id="40" name="Text 37"/>
          <p:cNvSpPr/>
          <p:nvPr/>
        </p:nvSpPr>
        <p:spPr>
          <a:xfrm>
            <a:off x="3166454" y="4554008"/>
            <a:ext cx="1993005" cy="30633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30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Auto-creates authenticated portal URL for paid media agency</a:t>
            </a:r>
            <a:endParaRPr lang="en-US" sz="830" dirty="0"/>
          </a:p>
        </p:txBody>
      </p:sp>
      <p:sp>
        <p:nvSpPr>
          <p:cNvPr id="41" name="Text 38"/>
          <p:cNvSpPr/>
          <p:nvPr/>
        </p:nvSpPr>
        <p:spPr>
          <a:xfrm>
            <a:off x="3166454" y="4865423"/>
            <a:ext cx="1993005" cy="181187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710" b="1" dirty="0">
                <a:solidFill>
                  <a:srgbClr val="9CA3A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🔗 /agency/id?token=...</a:t>
            </a:r>
            <a:endParaRPr lang="en-US" sz="710" dirty="0"/>
          </a:p>
        </p:txBody>
      </p:sp>
      <p:sp>
        <p:nvSpPr>
          <p:cNvPr id="42" name="Text 39"/>
          <p:cNvSpPr/>
          <p:nvPr/>
        </p:nvSpPr>
        <p:spPr>
          <a:xfrm>
            <a:off x="5791055" y="4368800"/>
            <a:ext cx="1993005" cy="18859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10" b="1" dirty="0">
                <a:solidFill>
                  <a:srgbClr val="1A1A2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Agency receives package</a:t>
            </a:r>
            <a:endParaRPr lang="en-US" sz="1010" dirty="0"/>
          </a:p>
        </p:txBody>
      </p:sp>
      <p:sp>
        <p:nvSpPr>
          <p:cNvPr id="43" name="Text 40"/>
          <p:cNvSpPr/>
          <p:nvPr/>
        </p:nvSpPr>
        <p:spPr>
          <a:xfrm>
            <a:off x="5791055" y="4554008"/>
            <a:ext cx="1993005" cy="436642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30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Strategy, targeting, creatives, ad copy, UTM links, landing page URLs — all via magic link</a:t>
            </a:r>
            <a:endParaRPr lang="en-US" sz="830" dirty="0"/>
          </a:p>
        </p:txBody>
      </p:sp>
      <p:sp>
        <p:nvSpPr>
          <p:cNvPr id="44" name="Text 41"/>
          <p:cNvSpPr/>
          <p:nvPr/>
        </p:nvSpPr>
        <p:spPr>
          <a:xfrm>
            <a:off x="8415656" y="4368800"/>
            <a:ext cx="1993005" cy="18859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10" b="1" dirty="0">
                <a:solidFill>
                  <a:srgbClr val="1A1A2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Recruiter accesses library</a:t>
            </a:r>
            <a:endParaRPr lang="en-US" sz="1010" dirty="0"/>
          </a:p>
        </p:txBody>
      </p:sp>
      <p:sp>
        <p:nvSpPr>
          <p:cNvPr id="45" name="Text 42"/>
          <p:cNvSpPr/>
          <p:nvPr/>
        </p:nvSpPr>
        <p:spPr>
          <a:xfrm>
            <a:off x="8415656" y="4554008"/>
            <a:ext cx="1993005" cy="30633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30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Creative library live — recruiter builds tracked links and shares with candidates</a:t>
            </a:r>
            <a:endParaRPr lang="en-US" sz="830" dirty="0"/>
          </a:p>
        </p:txBody>
      </p:sp>
      <p:sp>
        <p:nvSpPr>
          <p:cNvPr id="46" name="Text 43"/>
          <p:cNvSpPr/>
          <p:nvPr/>
        </p:nvSpPr>
        <p:spPr>
          <a:xfrm>
            <a:off x="372524" y="6637867"/>
            <a:ext cx="922660" cy="14732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750" b="1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Marketing action</a:t>
            </a:r>
            <a:endParaRPr lang="en-US" sz="750" dirty="0"/>
          </a:p>
        </p:txBody>
      </p:sp>
      <p:sp>
        <p:nvSpPr>
          <p:cNvPr id="47" name="Text 44"/>
          <p:cNvSpPr/>
          <p:nvPr/>
        </p:nvSpPr>
        <p:spPr>
          <a:xfrm>
            <a:off x="1418793" y="6637867"/>
            <a:ext cx="635991" cy="14732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750" b="1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Other role</a:t>
            </a:r>
            <a:endParaRPr lang="en-US" sz="750" dirty="0"/>
          </a:p>
        </p:txBody>
      </p:sp>
      <p:sp>
        <p:nvSpPr>
          <p:cNvPr id="48" name="Text 45"/>
          <p:cNvSpPr/>
          <p:nvPr/>
        </p:nvSpPr>
        <p:spPr>
          <a:xfrm>
            <a:off x="2178392" y="6637867"/>
            <a:ext cx="980734" cy="14732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750" b="1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Notification / Gate</a:t>
            </a:r>
            <a:endParaRPr lang="en-US" sz="750" dirty="0"/>
          </a:p>
        </p:txBody>
      </p:sp>
      <p:sp>
        <p:nvSpPr>
          <p:cNvPr id="49" name="Text 46"/>
          <p:cNvSpPr/>
          <p:nvPr/>
        </p:nvSpPr>
        <p:spPr>
          <a:xfrm>
            <a:off x="9937502" y="6637867"/>
            <a:ext cx="1588731" cy="14732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750" dirty="0">
                <a:solidFill>
                  <a:srgbClr val="B0B8C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Nova Creative Operations · OneForma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04792" y="127000"/>
            <a:ext cx="2123838" cy="32512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Designer Workflow</a:t>
            </a:r>
            <a:endParaRPr lang="en-US" sz="2100" dirty="0"/>
          </a:p>
        </p:txBody>
      </p:sp>
      <p:sp>
        <p:nvSpPr>
          <p:cNvPr id="4" name="Text 1"/>
          <p:cNvSpPr/>
          <p:nvPr/>
        </p:nvSpPr>
        <p:spPr>
          <a:xfrm>
            <a:off x="541853" y="982133"/>
            <a:ext cx="1993005" cy="18859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10" b="1" dirty="0">
                <a:solidFill>
                  <a:srgbClr val="1A1A2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Assignment notification</a:t>
            </a:r>
            <a:endParaRPr lang="en-US" sz="1010" dirty="0"/>
          </a:p>
        </p:txBody>
      </p:sp>
      <p:sp>
        <p:nvSpPr>
          <p:cNvPr id="5" name="Text 2"/>
          <p:cNvSpPr/>
          <p:nvPr/>
        </p:nvSpPr>
        <p:spPr>
          <a:xfrm>
            <a:off x="541853" y="1167342"/>
            <a:ext cx="1993005" cy="30633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30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Teams + Outlook email: "Campaign ready for design review"</a:t>
            </a:r>
            <a:endParaRPr lang="en-US" sz="830" dirty="0"/>
          </a:p>
        </p:txBody>
      </p:sp>
      <p:sp>
        <p:nvSpPr>
          <p:cNvPr id="6" name="Text 3"/>
          <p:cNvSpPr/>
          <p:nvPr/>
        </p:nvSpPr>
        <p:spPr>
          <a:xfrm>
            <a:off x="541853" y="1478756"/>
            <a:ext cx="1993005" cy="181187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710" b="1" dirty="0">
                <a:solidFill>
                  <a:srgbClr val="9CA3A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📩 From Marketing Manager</a:t>
            </a:r>
            <a:endParaRPr lang="en-US" sz="710" dirty="0"/>
          </a:p>
        </p:txBody>
      </p:sp>
      <p:sp>
        <p:nvSpPr>
          <p:cNvPr id="7" name="Text 4"/>
          <p:cNvSpPr/>
          <p:nvPr/>
        </p:nvSpPr>
        <p:spPr>
          <a:xfrm>
            <a:off x="3166454" y="982133"/>
            <a:ext cx="1993005" cy="18859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10" b="1" dirty="0">
                <a:solidFill>
                  <a:srgbClr val="1A1A2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Open Designer Dashboard</a:t>
            </a:r>
            <a:endParaRPr lang="en-US" sz="1010" dirty="0"/>
          </a:p>
        </p:txBody>
      </p:sp>
      <p:sp>
        <p:nvSpPr>
          <p:cNvPr id="8" name="Text 5"/>
          <p:cNvSpPr/>
          <p:nvPr/>
        </p:nvSpPr>
        <p:spPr>
          <a:xfrm>
            <a:off x="3166454" y="1167342"/>
            <a:ext cx="1993005" cy="176027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30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Workboard with status groups</a:t>
            </a:r>
            <a:endParaRPr lang="en-US" sz="830" dirty="0"/>
          </a:p>
        </p:txBody>
      </p:sp>
      <p:sp>
        <p:nvSpPr>
          <p:cNvPr id="9" name="Text 6"/>
          <p:cNvSpPr/>
          <p:nvPr/>
        </p:nvSpPr>
        <p:spPr>
          <a:xfrm>
            <a:off x="3166454" y="1331516"/>
            <a:ext cx="1993005" cy="183436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790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Needs Attention</a:t>
            </a:r>
            <a:endParaRPr lang="en-US" sz="790" dirty="0"/>
          </a:p>
        </p:txBody>
      </p:sp>
      <p:sp>
        <p:nvSpPr>
          <p:cNvPr id="10" name="Text 7"/>
          <p:cNvSpPr/>
          <p:nvPr/>
        </p:nvSpPr>
        <p:spPr>
          <a:xfrm>
            <a:off x="3166454" y="1469231"/>
            <a:ext cx="1993005" cy="183436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790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In Progress</a:t>
            </a:r>
            <a:endParaRPr lang="en-US" sz="790" dirty="0"/>
          </a:p>
        </p:txBody>
      </p:sp>
      <p:sp>
        <p:nvSpPr>
          <p:cNvPr id="11" name="Text 8"/>
          <p:cNvSpPr/>
          <p:nvPr/>
        </p:nvSpPr>
        <p:spPr>
          <a:xfrm>
            <a:off x="3166454" y="1606947"/>
            <a:ext cx="1993005" cy="183436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790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Completed</a:t>
            </a:r>
            <a:endParaRPr lang="en-US" sz="790" dirty="0"/>
          </a:p>
        </p:txBody>
      </p:sp>
      <p:sp>
        <p:nvSpPr>
          <p:cNvPr id="12" name="Text 9"/>
          <p:cNvSpPr/>
          <p:nvPr/>
        </p:nvSpPr>
        <p:spPr>
          <a:xfrm>
            <a:off x="5791055" y="982133"/>
            <a:ext cx="1993005" cy="18859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10" b="1" dirty="0">
                <a:solidFill>
                  <a:srgbClr val="1A1A2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Review creative gallery</a:t>
            </a:r>
            <a:endParaRPr lang="en-US" sz="1010" dirty="0"/>
          </a:p>
        </p:txBody>
      </p:sp>
      <p:sp>
        <p:nvSpPr>
          <p:cNvPr id="13" name="Text 10"/>
          <p:cNvSpPr/>
          <p:nvPr/>
        </p:nvSpPr>
        <p:spPr>
          <a:xfrm>
            <a:off x="5791055" y="1167342"/>
            <a:ext cx="1993005" cy="176027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30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Per-persona tabs with context cards</a:t>
            </a:r>
            <a:endParaRPr lang="en-US" sz="830" dirty="0"/>
          </a:p>
        </p:txBody>
      </p:sp>
      <p:sp>
        <p:nvSpPr>
          <p:cNvPr id="14" name="Text 11"/>
          <p:cNvSpPr/>
          <p:nvPr/>
        </p:nvSpPr>
        <p:spPr>
          <a:xfrm>
            <a:off x="5791055" y="1331516"/>
            <a:ext cx="1993005" cy="183436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790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Version accordions V1–V5</a:t>
            </a:r>
            <a:endParaRPr lang="en-US" sz="790" dirty="0"/>
          </a:p>
        </p:txBody>
      </p:sp>
      <p:sp>
        <p:nvSpPr>
          <p:cNvPr id="15" name="Text 12"/>
          <p:cNvSpPr/>
          <p:nvPr/>
        </p:nvSpPr>
        <p:spPr>
          <a:xfrm>
            <a:off x="5791055" y="1469231"/>
            <a:ext cx="1993005" cy="183436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790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Format cards with VQA scores</a:t>
            </a:r>
            <a:endParaRPr lang="en-US" sz="790" dirty="0"/>
          </a:p>
        </p:txBody>
      </p:sp>
      <p:sp>
        <p:nvSpPr>
          <p:cNvPr id="16" name="Text 13"/>
          <p:cNvSpPr/>
          <p:nvPr/>
        </p:nvSpPr>
        <p:spPr>
          <a:xfrm>
            <a:off x="5791055" y="1606947"/>
            <a:ext cx="1993005" cy="183436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790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Lightbox fullscreen preview</a:t>
            </a:r>
            <a:endParaRPr lang="en-US" sz="790" dirty="0"/>
          </a:p>
        </p:txBody>
      </p:sp>
      <p:sp>
        <p:nvSpPr>
          <p:cNvPr id="17" name="Text 14"/>
          <p:cNvSpPr/>
          <p:nvPr/>
        </p:nvSpPr>
        <p:spPr>
          <a:xfrm>
            <a:off x="8415656" y="982133"/>
            <a:ext cx="1993005" cy="18859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10" b="1" dirty="0">
                <a:solidFill>
                  <a:srgbClr val="1A1A2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Review design notes</a:t>
            </a:r>
            <a:endParaRPr lang="en-US" sz="1010" dirty="0"/>
          </a:p>
        </p:txBody>
      </p:sp>
      <p:sp>
        <p:nvSpPr>
          <p:cNvPr id="18" name="Text 15"/>
          <p:cNvSpPr/>
          <p:nvPr/>
        </p:nvSpPr>
        <p:spPr>
          <a:xfrm>
            <a:off x="8415656" y="1167342"/>
            <a:ext cx="1993005" cy="436642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30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Curated metadata per creative — persona psychology, demographics, targeting context</a:t>
            </a:r>
            <a:endParaRPr lang="en-US" sz="830" dirty="0"/>
          </a:p>
        </p:txBody>
      </p:sp>
      <p:sp>
        <p:nvSpPr>
          <p:cNvPr id="19" name="Text 16"/>
          <p:cNvSpPr/>
          <p:nvPr/>
        </p:nvSpPr>
        <p:spPr>
          <a:xfrm>
            <a:off x="8415656" y="2675467"/>
            <a:ext cx="1993005" cy="18859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10" b="1" dirty="0">
                <a:solidFill>
                  <a:srgbClr val="1A1A2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Quick Edit — Flux 2</a:t>
            </a:r>
            <a:endParaRPr lang="en-US" sz="1010" dirty="0"/>
          </a:p>
        </p:txBody>
      </p:sp>
      <p:sp>
        <p:nvSpPr>
          <p:cNvPr id="20" name="Text 17"/>
          <p:cNvSpPr/>
          <p:nvPr/>
        </p:nvSpPr>
        <p:spPr>
          <a:xfrm>
            <a:off x="8415656" y="2860675"/>
            <a:ext cx="1993005" cy="176027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30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Amber layer — photo retouching</a:t>
            </a:r>
            <a:endParaRPr lang="en-US" sz="830" dirty="0"/>
          </a:p>
        </p:txBody>
      </p:sp>
      <p:sp>
        <p:nvSpPr>
          <p:cNvPr id="21" name="Text 18"/>
          <p:cNvSpPr/>
          <p:nvPr/>
        </p:nvSpPr>
        <p:spPr>
          <a:xfrm>
            <a:off x="8415656" y="3024849"/>
            <a:ext cx="1993005" cy="183436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790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Brush mask to select area</a:t>
            </a:r>
            <a:endParaRPr lang="en-US" sz="790" dirty="0"/>
          </a:p>
        </p:txBody>
      </p:sp>
      <p:sp>
        <p:nvSpPr>
          <p:cNvPr id="22" name="Text 19"/>
          <p:cNvSpPr/>
          <p:nvPr/>
        </p:nvSpPr>
        <p:spPr>
          <a:xfrm>
            <a:off x="8415656" y="3162565"/>
            <a:ext cx="1993005" cy="183436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790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Fix face, remove object, change bg</a:t>
            </a:r>
            <a:endParaRPr lang="en-US" sz="790" dirty="0"/>
          </a:p>
        </p:txBody>
      </p:sp>
      <p:sp>
        <p:nvSpPr>
          <p:cNvPr id="23" name="Text 20"/>
          <p:cNvSpPr/>
          <p:nvPr/>
        </p:nvSpPr>
        <p:spPr>
          <a:xfrm>
            <a:off x="8415656" y="3300280"/>
            <a:ext cx="1993005" cy="183436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790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Before/after comparison</a:t>
            </a:r>
            <a:endParaRPr lang="en-US" sz="790" dirty="0"/>
          </a:p>
        </p:txBody>
      </p:sp>
      <p:sp>
        <p:nvSpPr>
          <p:cNvPr id="24" name="Text 21"/>
          <p:cNvSpPr/>
          <p:nvPr/>
        </p:nvSpPr>
        <p:spPr>
          <a:xfrm>
            <a:off x="5791055" y="2675467"/>
            <a:ext cx="1993005" cy="18859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10" b="1" dirty="0">
                <a:solidFill>
                  <a:srgbClr val="1A1A2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Graphic Editor — Overlay</a:t>
            </a:r>
            <a:endParaRPr lang="en-US" sz="1010" dirty="0"/>
          </a:p>
        </p:txBody>
      </p:sp>
      <p:sp>
        <p:nvSpPr>
          <p:cNvPr id="25" name="Text 22"/>
          <p:cNvSpPr/>
          <p:nvPr/>
        </p:nvSpPr>
        <p:spPr>
          <a:xfrm>
            <a:off x="5791055" y="2860675"/>
            <a:ext cx="1993005" cy="176027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30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Green layer — live text controls</a:t>
            </a:r>
            <a:endParaRPr lang="en-US" sz="830" dirty="0"/>
          </a:p>
        </p:txBody>
      </p:sp>
      <p:sp>
        <p:nvSpPr>
          <p:cNvPr id="26" name="Text 23"/>
          <p:cNvSpPr/>
          <p:nvPr/>
        </p:nvSpPr>
        <p:spPr>
          <a:xfrm>
            <a:off x="5791055" y="3024849"/>
            <a:ext cx="1993005" cy="183436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790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Edit headline, CTA, body copy</a:t>
            </a:r>
            <a:endParaRPr lang="en-US" sz="790" dirty="0"/>
          </a:p>
        </p:txBody>
      </p:sp>
      <p:sp>
        <p:nvSpPr>
          <p:cNvPr id="27" name="Text 24"/>
          <p:cNvSpPr/>
          <p:nvPr/>
        </p:nvSpPr>
        <p:spPr>
          <a:xfrm>
            <a:off x="5791055" y="3162565"/>
            <a:ext cx="1993005" cy="183436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790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Font, size, color, position</a:t>
            </a:r>
            <a:endParaRPr lang="en-US" sz="790" dirty="0"/>
          </a:p>
        </p:txBody>
      </p:sp>
      <p:sp>
        <p:nvSpPr>
          <p:cNvPr id="28" name="Text 25"/>
          <p:cNvSpPr/>
          <p:nvPr/>
        </p:nvSpPr>
        <p:spPr>
          <a:xfrm>
            <a:off x="5791055" y="3300280"/>
            <a:ext cx="1993005" cy="183436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790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Real-time canvas preview</a:t>
            </a:r>
            <a:endParaRPr lang="en-US" sz="790" dirty="0"/>
          </a:p>
        </p:txBody>
      </p:sp>
      <p:sp>
        <p:nvSpPr>
          <p:cNvPr id="29" name="Text 26"/>
          <p:cNvSpPr/>
          <p:nvPr/>
        </p:nvSpPr>
        <p:spPr>
          <a:xfrm>
            <a:off x="3166454" y="2675467"/>
            <a:ext cx="1993005" cy="18859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10" b="1" dirty="0">
                <a:solidFill>
                  <a:srgbClr val="1A1A2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Figma integration</a:t>
            </a:r>
            <a:endParaRPr lang="en-US" sz="1010" dirty="0"/>
          </a:p>
        </p:txBody>
      </p:sp>
      <p:sp>
        <p:nvSpPr>
          <p:cNvPr id="30" name="Text 27"/>
          <p:cNvSpPr/>
          <p:nvPr/>
        </p:nvSpPr>
        <p:spPr>
          <a:xfrm>
            <a:off x="3166454" y="2860675"/>
            <a:ext cx="1993005" cy="176027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30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Bidirectional workflow</a:t>
            </a:r>
            <a:endParaRPr lang="en-US" sz="830" dirty="0"/>
          </a:p>
        </p:txBody>
      </p:sp>
      <p:sp>
        <p:nvSpPr>
          <p:cNvPr id="31" name="Text 28"/>
          <p:cNvSpPr/>
          <p:nvPr/>
        </p:nvSpPr>
        <p:spPr>
          <a:xfrm>
            <a:off x="3166454" y="3024849"/>
            <a:ext cx="1993005" cy="183436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790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Export ZIP SVGs → auto-open</a:t>
            </a:r>
            <a:endParaRPr lang="en-US" sz="790" dirty="0"/>
          </a:p>
        </p:txBody>
      </p:sp>
      <p:sp>
        <p:nvSpPr>
          <p:cNvPr id="32" name="Text 29"/>
          <p:cNvSpPr/>
          <p:nvPr/>
        </p:nvSpPr>
        <p:spPr>
          <a:xfrm>
            <a:off x="3166454" y="3162565"/>
            <a:ext cx="1993005" cy="183436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790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Push: campaign / persona / version</a:t>
            </a:r>
            <a:endParaRPr lang="en-US" sz="790" dirty="0"/>
          </a:p>
        </p:txBody>
      </p:sp>
      <p:sp>
        <p:nvSpPr>
          <p:cNvPr id="33" name="Text 30"/>
          <p:cNvSpPr/>
          <p:nvPr/>
        </p:nvSpPr>
        <p:spPr>
          <a:xfrm>
            <a:off x="3166454" y="3300280"/>
            <a:ext cx="1993005" cy="183436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790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Sync status polling</a:t>
            </a:r>
            <a:endParaRPr lang="en-US" sz="790" dirty="0"/>
          </a:p>
        </p:txBody>
      </p:sp>
      <p:sp>
        <p:nvSpPr>
          <p:cNvPr id="34" name="Text 31"/>
          <p:cNvSpPr/>
          <p:nvPr/>
        </p:nvSpPr>
        <p:spPr>
          <a:xfrm>
            <a:off x="541853" y="2675467"/>
            <a:ext cx="1993005" cy="18859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10" b="1" dirty="0">
                <a:solidFill>
                  <a:srgbClr val="1A1A2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Regenerate — Seedream 4.5</a:t>
            </a:r>
            <a:endParaRPr lang="en-US" sz="1010" dirty="0"/>
          </a:p>
        </p:txBody>
      </p:sp>
      <p:sp>
        <p:nvSpPr>
          <p:cNvPr id="35" name="Text 32"/>
          <p:cNvSpPr/>
          <p:nvPr/>
        </p:nvSpPr>
        <p:spPr>
          <a:xfrm>
            <a:off x="541853" y="2860675"/>
            <a:ext cx="1993005" cy="176027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30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Full image regeneration</a:t>
            </a:r>
            <a:endParaRPr lang="en-US" sz="830" dirty="0"/>
          </a:p>
        </p:txBody>
      </p:sp>
      <p:sp>
        <p:nvSpPr>
          <p:cNvPr id="36" name="Text 33"/>
          <p:cNvSpPr/>
          <p:nvPr/>
        </p:nvSpPr>
        <p:spPr>
          <a:xfrm>
            <a:off x="541853" y="3024849"/>
            <a:ext cx="1993005" cy="183436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790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Change: scene, lighting, pose</a:t>
            </a:r>
            <a:endParaRPr lang="en-US" sz="790" dirty="0"/>
          </a:p>
        </p:txBody>
      </p:sp>
      <p:sp>
        <p:nvSpPr>
          <p:cNvPr id="37" name="Text 34"/>
          <p:cNvSpPr/>
          <p:nvPr/>
        </p:nvSpPr>
        <p:spPr>
          <a:xfrm>
            <a:off x="541853" y="3162565"/>
            <a:ext cx="1993005" cy="183436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790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Expression, outfit checkboxes</a:t>
            </a:r>
            <a:endParaRPr lang="en-US" sz="790" dirty="0"/>
          </a:p>
        </p:txBody>
      </p:sp>
      <p:sp>
        <p:nvSpPr>
          <p:cNvPr id="38" name="Text 35"/>
          <p:cNvSpPr/>
          <p:nvPr/>
        </p:nvSpPr>
        <p:spPr>
          <a:xfrm>
            <a:off x="541853" y="3300280"/>
            <a:ext cx="1993005" cy="183436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790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Triggers Stage 2/4 regen</a:t>
            </a:r>
            <a:endParaRPr lang="en-US" sz="790" dirty="0"/>
          </a:p>
        </p:txBody>
      </p:sp>
      <p:sp>
        <p:nvSpPr>
          <p:cNvPr id="39" name="Text 36"/>
          <p:cNvSpPr/>
          <p:nvPr/>
        </p:nvSpPr>
        <p:spPr>
          <a:xfrm>
            <a:off x="372524" y="3894667"/>
            <a:ext cx="1401014" cy="138853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710" i="1" dirty="0">
                <a:solidFill>
                  <a:srgbClr val="9CA3A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Multiple edit rounds until satisfied.</a:t>
            </a:r>
            <a:endParaRPr lang="en-US" sz="710" dirty="0"/>
          </a:p>
        </p:txBody>
      </p:sp>
      <p:sp>
        <p:nvSpPr>
          <p:cNvPr id="40" name="Text 37"/>
          <p:cNvSpPr/>
          <p:nvPr/>
        </p:nvSpPr>
        <p:spPr>
          <a:xfrm>
            <a:off x="541853" y="4368800"/>
            <a:ext cx="1993005" cy="18859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10" b="1" dirty="0">
                <a:solidFill>
                  <a:srgbClr val="1A1A2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Edit LP in Dreamweaver</a:t>
            </a:r>
            <a:endParaRPr lang="en-US" sz="1010" dirty="0"/>
          </a:p>
        </p:txBody>
      </p:sp>
      <p:sp>
        <p:nvSpPr>
          <p:cNvPr id="41" name="Text 38"/>
          <p:cNvSpPr/>
          <p:nvPr/>
        </p:nvSpPr>
        <p:spPr>
          <a:xfrm>
            <a:off x="541853" y="4554008"/>
            <a:ext cx="1993005" cy="436642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30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Download generated HTML → edit in Dreamweaver → sync back to Nova (drift re-validated)</a:t>
            </a:r>
            <a:endParaRPr lang="en-US" sz="830" dirty="0"/>
          </a:p>
        </p:txBody>
      </p:sp>
      <p:sp>
        <p:nvSpPr>
          <p:cNvPr id="42" name="Text 39"/>
          <p:cNvSpPr/>
          <p:nvPr/>
        </p:nvSpPr>
        <p:spPr>
          <a:xfrm>
            <a:off x="3166454" y="4368800"/>
            <a:ext cx="1993005" cy="18859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10" b="1" dirty="0">
                <a:solidFill>
                  <a:srgbClr val="1A1A2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Deploy LP to WordPress</a:t>
            </a:r>
            <a:endParaRPr lang="en-US" sz="1010" dirty="0"/>
          </a:p>
        </p:txBody>
      </p:sp>
      <p:sp>
        <p:nvSpPr>
          <p:cNvPr id="43" name="Text 40"/>
          <p:cNvSpPr/>
          <p:nvPr/>
        </p:nvSpPr>
        <p:spPr>
          <a:xfrm>
            <a:off x="3166454" y="4554008"/>
            <a:ext cx="1993005" cy="436642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30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FTP push to WP root → LP URL auto-captured → inserted into campaign_landing_pages</a:t>
            </a:r>
            <a:endParaRPr lang="en-US" sz="830" dirty="0"/>
          </a:p>
        </p:txBody>
      </p:sp>
      <p:sp>
        <p:nvSpPr>
          <p:cNvPr id="44" name="Text 41"/>
          <p:cNvSpPr/>
          <p:nvPr/>
        </p:nvSpPr>
        <p:spPr>
          <a:xfrm>
            <a:off x="3166454" y="4995730"/>
            <a:ext cx="1993005" cy="181187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710" b="1" dirty="0">
                <a:solidFill>
                  <a:srgbClr val="9CA3A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🔗 URL auto-populates everywhere</a:t>
            </a:r>
            <a:endParaRPr lang="en-US" sz="710" dirty="0"/>
          </a:p>
        </p:txBody>
      </p:sp>
      <p:sp>
        <p:nvSpPr>
          <p:cNvPr id="45" name="Text 42"/>
          <p:cNvSpPr/>
          <p:nvPr/>
        </p:nvSpPr>
        <p:spPr>
          <a:xfrm>
            <a:off x="5791055" y="4368800"/>
            <a:ext cx="1993005" cy="18859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10" b="1" dirty="0">
                <a:solidFill>
                  <a:srgbClr val="1A1A2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Submit finals</a:t>
            </a:r>
            <a:endParaRPr lang="en-US" sz="1010" dirty="0"/>
          </a:p>
        </p:txBody>
      </p:sp>
      <p:sp>
        <p:nvSpPr>
          <p:cNvPr id="46" name="Text 43"/>
          <p:cNvSpPr/>
          <p:nvPr/>
        </p:nvSpPr>
        <p:spPr>
          <a:xfrm>
            <a:off x="5791055" y="4554008"/>
            <a:ext cx="1993005" cy="30633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30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Creatives + landing pages all ready for Marketing Manager's final approval</a:t>
            </a:r>
            <a:endParaRPr lang="en-US" sz="830" dirty="0"/>
          </a:p>
        </p:txBody>
      </p:sp>
      <p:sp>
        <p:nvSpPr>
          <p:cNvPr id="47" name="Text 44"/>
          <p:cNvSpPr/>
          <p:nvPr/>
        </p:nvSpPr>
        <p:spPr>
          <a:xfrm>
            <a:off x="5791055" y="4865423"/>
            <a:ext cx="1993005" cy="181187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710" b="1" dirty="0">
                <a:solidFill>
                  <a:srgbClr val="9CA3A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📩 Teams + Outlook to Marketing</a:t>
            </a:r>
            <a:endParaRPr lang="en-US" sz="710" dirty="0"/>
          </a:p>
        </p:txBody>
      </p:sp>
      <p:sp>
        <p:nvSpPr>
          <p:cNvPr id="48" name="Text 45"/>
          <p:cNvSpPr/>
          <p:nvPr/>
        </p:nvSpPr>
        <p:spPr>
          <a:xfrm>
            <a:off x="8415656" y="4368800"/>
            <a:ext cx="1993005" cy="18859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10" b="1" dirty="0">
                <a:solidFill>
                  <a:srgbClr val="1A1A2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Campaign goes live</a:t>
            </a:r>
            <a:endParaRPr lang="en-US" sz="1010" dirty="0"/>
          </a:p>
        </p:txBody>
      </p:sp>
      <p:sp>
        <p:nvSpPr>
          <p:cNvPr id="49" name="Text 46"/>
          <p:cNvSpPr/>
          <p:nvPr/>
        </p:nvSpPr>
        <p:spPr>
          <a:xfrm>
            <a:off x="8415656" y="4554008"/>
            <a:ext cx="1993005" cy="30633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30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Marketing approves → recruiter library + agency magic link + live WP landing pages</a:t>
            </a:r>
            <a:endParaRPr lang="en-US" sz="830" dirty="0"/>
          </a:p>
        </p:txBody>
      </p:sp>
      <p:sp>
        <p:nvSpPr>
          <p:cNvPr id="50" name="Text 47"/>
          <p:cNvSpPr/>
          <p:nvPr/>
        </p:nvSpPr>
        <p:spPr>
          <a:xfrm>
            <a:off x="8415656" y="4865423"/>
            <a:ext cx="1993005" cy="181187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710" b="1" dirty="0">
                <a:solidFill>
                  <a:srgbClr val="9CA3A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📩 Notifications to all</a:t>
            </a:r>
            <a:endParaRPr lang="en-US" sz="710" dirty="0"/>
          </a:p>
        </p:txBody>
      </p:sp>
      <p:sp>
        <p:nvSpPr>
          <p:cNvPr id="51" name="Text 48"/>
          <p:cNvSpPr/>
          <p:nvPr/>
        </p:nvSpPr>
        <p:spPr>
          <a:xfrm>
            <a:off x="372524" y="6637867"/>
            <a:ext cx="876094" cy="14732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750" b="1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Designer action</a:t>
            </a:r>
            <a:endParaRPr lang="en-US" sz="750" dirty="0"/>
          </a:p>
        </p:txBody>
      </p:sp>
      <p:sp>
        <p:nvSpPr>
          <p:cNvPr id="52" name="Text 49"/>
          <p:cNvSpPr/>
          <p:nvPr/>
        </p:nvSpPr>
        <p:spPr>
          <a:xfrm>
            <a:off x="1372227" y="6637867"/>
            <a:ext cx="464280" cy="14732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750" b="1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Figma</a:t>
            </a:r>
            <a:endParaRPr lang="en-US" sz="750" dirty="0"/>
          </a:p>
        </p:txBody>
      </p:sp>
      <p:sp>
        <p:nvSpPr>
          <p:cNvPr id="53" name="Text 50"/>
          <p:cNvSpPr/>
          <p:nvPr/>
        </p:nvSpPr>
        <p:spPr>
          <a:xfrm>
            <a:off x="1960117" y="6637867"/>
            <a:ext cx="634535" cy="14732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750" b="1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Marketing</a:t>
            </a:r>
            <a:endParaRPr lang="en-US" sz="750" dirty="0"/>
          </a:p>
        </p:txBody>
      </p:sp>
      <p:sp>
        <p:nvSpPr>
          <p:cNvPr id="54" name="Text 51"/>
          <p:cNvSpPr/>
          <p:nvPr/>
        </p:nvSpPr>
        <p:spPr>
          <a:xfrm>
            <a:off x="2718261" y="6637867"/>
            <a:ext cx="705707" cy="14732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750" b="1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Notification</a:t>
            </a:r>
            <a:endParaRPr lang="en-US" sz="750" dirty="0"/>
          </a:p>
        </p:txBody>
      </p:sp>
      <p:sp>
        <p:nvSpPr>
          <p:cNvPr id="55" name="Text 52"/>
          <p:cNvSpPr/>
          <p:nvPr/>
        </p:nvSpPr>
        <p:spPr>
          <a:xfrm>
            <a:off x="9937502" y="6637867"/>
            <a:ext cx="1588731" cy="14732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750" dirty="0">
                <a:solidFill>
                  <a:srgbClr val="B0B8C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Nova Creative Operations · OneForma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04792" y="127000"/>
            <a:ext cx="3210322" cy="32512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Paid Media Agency Workflow</a:t>
            </a:r>
            <a:endParaRPr lang="en-US" sz="2100" dirty="0"/>
          </a:p>
        </p:txBody>
      </p:sp>
      <p:sp>
        <p:nvSpPr>
          <p:cNvPr id="4" name="Text 1"/>
          <p:cNvSpPr/>
          <p:nvPr/>
        </p:nvSpPr>
        <p:spPr>
          <a:xfrm>
            <a:off x="541853" y="982133"/>
            <a:ext cx="1993005" cy="18859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10" b="1" dirty="0">
                <a:solidFill>
                  <a:srgbClr val="1A1A2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Receive magic link</a:t>
            </a:r>
            <a:endParaRPr lang="en-US" sz="1010" dirty="0"/>
          </a:p>
        </p:txBody>
      </p:sp>
      <p:sp>
        <p:nvSpPr>
          <p:cNvPr id="5" name="Text 2"/>
          <p:cNvSpPr/>
          <p:nvPr/>
        </p:nvSpPr>
        <p:spPr>
          <a:xfrm>
            <a:off x="541853" y="1167342"/>
            <a:ext cx="1993005" cy="30633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30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Teams + Outlook email with authenticated portal URL — no login required</a:t>
            </a:r>
            <a:endParaRPr lang="en-US" sz="830" dirty="0"/>
          </a:p>
        </p:txBody>
      </p:sp>
      <p:sp>
        <p:nvSpPr>
          <p:cNvPr id="6" name="Text 3"/>
          <p:cNvSpPr/>
          <p:nvPr/>
        </p:nvSpPr>
        <p:spPr>
          <a:xfrm>
            <a:off x="541853" y="1478756"/>
            <a:ext cx="1993005" cy="181187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710" b="1" dirty="0">
                <a:solidFill>
                  <a:srgbClr val="9CA3A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📩 From Marketing Manager</a:t>
            </a:r>
            <a:endParaRPr lang="en-US" sz="710" dirty="0"/>
          </a:p>
        </p:txBody>
      </p:sp>
      <p:sp>
        <p:nvSpPr>
          <p:cNvPr id="7" name="Text 4"/>
          <p:cNvSpPr/>
          <p:nvPr/>
        </p:nvSpPr>
        <p:spPr>
          <a:xfrm>
            <a:off x="3166454" y="982133"/>
            <a:ext cx="1993005" cy="18859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10" b="1" dirty="0">
                <a:solidFill>
                  <a:srgbClr val="1A1A2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Open agency portal</a:t>
            </a:r>
            <a:endParaRPr lang="en-US" sz="1010" dirty="0"/>
          </a:p>
        </p:txBody>
      </p:sp>
      <p:sp>
        <p:nvSpPr>
          <p:cNvPr id="8" name="Text 5"/>
          <p:cNvSpPr/>
          <p:nvPr/>
        </p:nvSpPr>
        <p:spPr>
          <a:xfrm>
            <a:off x="3166454" y="1167342"/>
            <a:ext cx="1993005" cy="30633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30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/agency/id?token=... — campaign title, slug, status badge, expiry timer</a:t>
            </a:r>
            <a:endParaRPr lang="en-US" sz="830" dirty="0"/>
          </a:p>
        </p:txBody>
      </p:sp>
      <p:sp>
        <p:nvSpPr>
          <p:cNvPr id="9" name="Text 6"/>
          <p:cNvSpPr/>
          <p:nvPr/>
        </p:nvSpPr>
        <p:spPr>
          <a:xfrm>
            <a:off x="3166454" y="1478756"/>
            <a:ext cx="1993005" cy="181187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710" b="1" dirty="0">
                <a:solidFill>
                  <a:srgbClr val="9CA3A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⏰ Expires in 7 days</a:t>
            </a:r>
            <a:endParaRPr lang="en-US" sz="710" dirty="0"/>
          </a:p>
        </p:txBody>
      </p:sp>
      <p:sp>
        <p:nvSpPr>
          <p:cNvPr id="10" name="Text 7"/>
          <p:cNvSpPr/>
          <p:nvPr/>
        </p:nvSpPr>
        <p:spPr>
          <a:xfrm>
            <a:off x="5791055" y="982133"/>
            <a:ext cx="1993005" cy="18859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10" b="1" dirty="0">
                <a:solidFill>
                  <a:srgbClr val="1A1A2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Tab 1: Overview &amp; Strategy</a:t>
            </a:r>
            <a:endParaRPr lang="en-US" sz="1010" dirty="0"/>
          </a:p>
        </p:txBody>
      </p:sp>
      <p:sp>
        <p:nvSpPr>
          <p:cNvPr id="11" name="Text 8"/>
          <p:cNvSpPr/>
          <p:nvPr/>
        </p:nvSpPr>
        <p:spPr>
          <a:xfrm>
            <a:off x="5791055" y="1167342"/>
            <a:ext cx="1993005" cy="176027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30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High-level campaign view</a:t>
            </a:r>
            <a:endParaRPr lang="en-US" sz="830" dirty="0"/>
          </a:p>
        </p:txBody>
      </p:sp>
      <p:sp>
        <p:nvSpPr>
          <p:cNvPr id="12" name="Text 9"/>
          <p:cNvSpPr/>
          <p:nvPr/>
        </p:nvSpPr>
        <p:spPr>
          <a:xfrm>
            <a:off x="5791055" y="1331516"/>
            <a:ext cx="1993005" cy="183436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790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Persona targeting profiles</a:t>
            </a:r>
            <a:endParaRPr lang="en-US" sz="790" dirty="0"/>
          </a:p>
        </p:txBody>
      </p:sp>
      <p:sp>
        <p:nvSpPr>
          <p:cNvPr id="13" name="Text 10"/>
          <p:cNvSpPr/>
          <p:nvPr/>
        </p:nvSpPr>
        <p:spPr>
          <a:xfrm>
            <a:off x="5791055" y="1469231"/>
            <a:ext cx="1993005" cy="183436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790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Channel mix visualization</a:t>
            </a:r>
            <a:endParaRPr lang="en-US" sz="790" dirty="0"/>
          </a:p>
        </p:txBody>
      </p:sp>
      <p:sp>
        <p:nvSpPr>
          <p:cNvPr id="14" name="Text 11"/>
          <p:cNvSpPr/>
          <p:nvPr/>
        </p:nvSpPr>
        <p:spPr>
          <a:xfrm>
            <a:off x="5791055" y="1606947"/>
            <a:ext cx="1993005" cy="183436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790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Budget allocation per channel</a:t>
            </a:r>
            <a:endParaRPr lang="en-US" sz="790" dirty="0"/>
          </a:p>
        </p:txBody>
      </p:sp>
      <p:sp>
        <p:nvSpPr>
          <p:cNvPr id="15" name="Text 12"/>
          <p:cNvSpPr/>
          <p:nvPr/>
        </p:nvSpPr>
        <p:spPr>
          <a:xfrm>
            <a:off x="8415656" y="982133"/>
            <a:ext cx="1993005" cy="18859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10" b="1" dirty="0">
                <a:solidFill>
                  <a:srgbClr val="1A1A2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Tab 2: Channels &amp; Ad Sets</a:t>
            </a:r>
            <a:endParaRPr lang="en-US" sz="1010" dirty="0"/>
          </a:p>
        </p:txBody>
      </p:sp>
      <p:sp>
        <p:nvSpPr>
          <p:cNvPr id="16" name="Text 13"/>
          <p:cNvSpPr/>
          <p:nvPr/>
        </p:nvSpPr>
        <p:spPr>
          <a:xfrm>
            <a:off x="8415656" y="1167342"/>
            <a:ext cx="1993005" cy="30633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30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Per-channel accordion sections with full targeting detail</a:t>
            </a:r>
            <a:endParaRPr lang="en-US" sz="830" dirty="0"/>
          </a:p>
        </p:txBody>
      </p:sp>
      <p:sp>
        <p:nvSpPr>
          <p:cNvPr id="17" name="Text 14"/>
          <p:cNvSpPr/>
          <p:nvPr/>
        </p:nvSpPr>
        <p:spPr>
          <a:xfrm>
            <a:off x="8415656" y="1478756"/>
            <a:ext cx="1993005" cy="138853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710" b="1" dirty="0">
                <a:solidFill>
                  <a:srgbClr val="9CA3A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Meta · LinkedIn · TikTok · Google</a:t>
            </a:r>
            <a:endParaRPr lang="en-US" sz="710" dirty="0"/>
          </a:p>
        </p:txBody>
      </p:sp>
      <p:sp>
        <p:nvSpPr>
          <p:cNvPr id="18" name="Text 15"/>
          <p:cNvSpPr/>
          <p:nvPr/>
        </p:nvSpPr>
        <p:spPr>
          <a:xfrm>
            <a:off x="8415656" y="2675467"/>
            <a:ext cx="1993005" cy="18859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10" b="1" dirty="0">
                <a:solidFill>
                  <a:srgbClr val="1A1A2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Ad set targeting detail</a:t>
            </a:r>
            <a:endParaRPr lang="en-US" sz="1010" dirty="0"/>
          </a:p>
        </p:txBody>
      </p:sp>
      <p:sp>
        <p:nvSpPr>
          <p:cNvPr id="19" name="Text 16"/>
          <p:cNvSpPr/>
          <p:nvPr/>
        </p:nvSpPr>
        <p:spPr>
          <a:xfrm>
            <a:off x="8415656" y="2860675"/>
            <a:ext cx="1993005" cy="176027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30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Per ad set card</a:t>
            </a:r>
            <a:endParaRPr lang="en-US" sz="830" dirty="0"/>
          </a:p>
        </p:txBody>
      </p:sp>
      <p:sp>
        <p:nvSpPr>
          <p:cNvPr id="20" name="Text 17"/>
          <p:cNvSpPr/>
          <p:nvPr/>
        </p:nvSpPr>
        <p:spPr>
          <a:xfrm>
            <a:off x="8415656" y="3024849"/>
            <a:ext cx="1993005" cy="183436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790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Interests: hyper / hot / broad</a:t>
            </a:r>
            <a:endParaRPr lang="en-US" sz="790" dirty="0"/>
          </a:p>
        </p:txBody>
      </p:sp>
      <p:sp>
        <p:nvSpPr>
          <p:cNvPr id="21" name="Text 18"/>
          <p:cNvSpPr/>
          <p:nvPr/>
        </p:nvSpPr>
        <p:spPr>
          <a:xfrm>
            <a:off x="8415656" y="3162565"/>
            <a:ext cx="1993005" cy="183436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790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Demographics &amp; geo</a:t>
            </a:r>
            <a:endParaRPr lang="en-US" sz="790" dirty="0"/>
          </a:p>
        </p:txBody>
      </p:sp>
      <p:sp>
        <p:nvSpPr>
          <p:cNvPr id="22" name="Text 19"/>
          <p:cNvSpPr/>
          <p:nvPr/>
        </p:nvSpPr>
        <p:spPr>
          <a:xfrm>
            <a:off x="8415656" y="3300280"/>
            <a:ext cx="1993005" cy="183436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790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Placements &amp; rules</a:t>
            </a:r>
            <a:endParaRPr lang="en-US" sz="790" dirty="0"/>
          </a:p>
        </p:txBody>
      </p:sp>
      <p:sp>
        <p:nvSpPr>
          <p:cNvPr id="23" name="Text 20"/>
          <p:cNvSpPr/>
          <p:nvPr/>
        </p:nvSpPr>
        <p:spPr>
          <a:xfrm>
            <a:off x="5791055" y="2675467"/>
            <a:ext cx="1993005" cy="18859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10" b="1" dirty="0">
                <a:solidFill>
                  <a:srgbClr val="1A1A2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Creative thumbnails &amp; copy</a:t>
            </a:r>
            <a:endParaRPr lang="en-US" sz="1010" dirty="0"/>
          </a:p>
        </p:txBody>
      </p:sp>
      <p:sp>
        <p:nvSpPr>
          <p:cNvPr id="24" name="Text 21"/>
          <p:cNvSpPr/>
          <p:nvPr/>
        </p:nvSpPr>
        <p:spPr>
          <a:xfrm>
            <a:off x="5791055" y="2860675"/>
            <a:ext cx="1993005" cy="176027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30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Per ad set — sorted by VQA score</a:t>
            </a:r>
            <a:endParaRPr lang="en-US" sz="830" dirty="0"/>
          </a:p>
        </p:txBody>
      </p:sp>
      <p:sp>
        <p:nvSpPr>
          <p:cNvPr id="25" name="Text 22"/>
          <p:cNvSpPr/>
          <p:nvPr/>
        </p:nvSpPr>
        <p:spPr>
          <a:xfrm>
            <a:off x="5791055" y="3024849"/>
            <a:ext cx="1993005" cy="183436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790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Headline, body, CTA</a:t>
            </a:r>
            <a:endParaRPr lang="en-US" sz="790" dirty="0"/>
          </a:p>
        </p:txBody>
      </p:sp>
      <p:sp>
        <p:nvSpPr>
          <p:cNvPr id="26" name="Text 23"/>
          <p:cNvSpPr/>
          <p:nvPr/>
        </p:nvSpPr>
        <p:spPr>
          <a:xfrm>
            <a:off x="5791055" y="3162565"/>
            <a:ext cx="1993005" cy="183436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790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Description text</a:t>
            </a:r>
            <a:endParaRPr lang="en-US" sz="790" dirty="0"/>
          </a:p>
        </p:txBody>
      </p:sp>
      <p:sp>
        <p:nvSpPr>
          <p:cNvPr id="27" name="Text 24"/>
          <p:cNvSpPr/>
          <p:nvPr/>
        </p:nvSpPr>
        <p:spPr>
          <a:xfrm>
            <a:off x="5791055" y="3300280"/>
            <a:ext cx="1993005" cy="183436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790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Hook type badge</a:t>
            </a:r>
            <a:endParaRPr lang="en-US" sz="790" dirty="0"/>
          </a:p>
        </p:txBody>
      </p:sp>
      <p:sp>
        <p:nvSpPr>
          <p:cNvPr id="28" name="Text 25"/>
          <p:cNvSpPr/>
          <p:nvPr/>
        </p:nvSpPr>
        <p:spPr>
          <a:xfrm>
            <a:off x="3166454" y="2675467"/>
            <a:ext cx="1993005" cy="18859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10" b="1" dirty="0">
                <a:solidFill>
                  <a:srgbClr val="1A1A2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UTM tracked links</a:t>
            </a:r>
            <a:endParaRPr lang="en-US" sz="1010" dirty="0"/>
          </a:p>
        </p:txBody>
      </p:sp>
      <p:sp>
        <p:nvSpPr>
          <p:cNvPr id="29" name="Text 26"/>
          <p:cNvSpPr/>
          <p:nvPr/>
        </p:nvSpPr>
        <p:spPr>
          <a:xfrm>
            <a:off x="3166454" y="2860675"/>
            <a:ext cx="1993005" cy="30633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30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Pre-built tracking URLs per creative — ready to paste into ad manager</a:t>
            </a:r>
            <a:endParaRPr lang="en-US" sz="830" dirty="0"/>
          </a:p>
        </p:txBody>
      </p:sp>
      <p:sp>
        <p:nvSpPr>
          <p:cNvPr id="30" name="Text 27"/>
          <p:cNvSpPr/>
          <p:nvPr/>
        </p:nvSpPr>
        <p:spPr>
          <a:xfrm>
            <a:off x="3166454" y="3172090"/>
            <a:ext cx="1993005" cy="181187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710" b="1" dirty="0">
                <a:solidFill>
                  <a:srgbClr val="9CA3A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🔗 Campaign + source + medium</a:t>
            </a:r>
            <a:endParaRPr lang="en-US" sz="710" dirty="0"/>
          </a:p>
        </p:txBody>
      </p:sp>
      <p:sp>
        <p:nvSpPr>
          <p:cNvPr id="31" name="Text 28"/>
          <p:cNvSpPr/>
          <p:nvPr/>
        </p:nvSpPr>
        <p:spPr>
          <a:xfrm>
            <a:off x="541853" y="2675467"/>
            <a:ext cx="1993005" cy="18859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10" b="1" dirty="0">
                <a:solidFill>
                  <a:srgbClr val="1A1A2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Landing page URLs</a:t>
            </a:r>
            <a:endParaRPr lang="en-US" sz="1010" dirty="0"/>
          </a:p>
        </p:txBody>
      </p:sp>
      <p:sp>
        <p:nvSpPr>
          <p:cNvPr id="32" name="Text 29"/>
          <p:cNvSpPr/>
          <p:nvPr/>
        </p:nvSpPr>
        <p:spPr>
          <a:xfrm>
            <a:off x="541853" y="2860675"/>
            <a:ext cx="1993005" cy="30633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30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Per-persona /lp/ routes for ad click destinations — message-matched</a:t>
            </a:r>
            <a:endParaRPr lang="en-US" sz="830" dirty="0"/>
          </a:p>
        </p:txBody>
      </p:sp>
      <p:sp>
        <p:nvSpPr>
          <p:cNvPr id="33" name="Text 30"/>
          <p:cNvSpPr/>
          <p:nvPr/>
        </p:nvSpPr>
        <p:spPr>
          <a:xfrm>
            <a:off x="541853" y="3172090"/>
            <a:ext cx="1993005" cy="181187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710" b="1" dirty="0">
                <a:solidFill>
                  <a:srgbClr val="9CA3A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🔗 /lp/campaign--persona</a:t>
            </a:r>
            <a:endParaRPr lang="en-US" sz="710" dirty="0"/>
          </a:p>
        </p:txBody>
      </p:sp>
      <p:sp>
        <p:nvSpPr>
          <p:cNvPr id="34" name="Text 31"/>
          <p:cNvSpPr/>
          <p:nvPr/>
        </p:nvSpPr>
        <p:spPr>
          <a:xfrm>
            <a:off x="541853" y="4368800"/>
            <a:ext cx="1993005" cy="18859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10" b="1" dirty="0">
                <a:solidFill>
                  <a:srgbClr val="1A1A2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Download all creatives</a:t>
            </a:r>
            <a:endParaRPr lang="en-US" sz="1010" dirty="0"/>
          </a:p>
        </p:txBody>
      </p:sp>
      <p:sp>
        <p:nvSpPr>
          <p:cNvPr id="35" name="Text 32"/>
          <p:cNvSpPr/>
          <p:nvPr/>
        </p:nvSpPr>
        <p:spPr>
          <a:xfrm>
            <a:off x="541853" y="4554008"/>
            <a:ext cx="1993005" cy="30633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30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ZIP file with all composed creatives organized by channel and persona</a:t>
            </a:r>
            <a:endParaRPr lang="en-US" sz="830" dirty="0"/>
          </a:p>
        </p:txBody>
      </p:sp>
      <p:sp>
        <p:nvSpPr>
          <p:cNvPr id="36" name="Text 33"/>
          <p:cNvSpPr/>
          <p:nvPr/>
        </p:nvSpPr>
        <p:spPr>
          <a:xfrm>
            <a:off x="541853" y="4865423"/>
            <a:ext cx="1993005" cy="181187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710" b="1" dirty="0">
                <a:solidFill>
                  <a:srgbClr val="9CA3A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📦 Bulk download</a:t>
            </a:r>
            <a:endParaRPr lang="en-US" sz="710" dirty="0"/>
          </a:p>
        </p:txBody>
      </p:sp>
      <p:sp>
        <p:nvSpPr>
          <p:cNvPr id="37" name="Text 34"/>
          <p:cNvSpPr/>
          <p:nvPr/>
        </p:nvSpPr>
        <p:spPr>
          <a:xfrm>
            <a:off x="3166454" y="4368800"/>
            <a:ext cx="1993005" cy="18859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10" b="1" dirty="0">
                <a:solidFill>
                  <a:srgbClr val="1A1A2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Launch campaigns</a:t>
            </a:r>
            <a:endParaRPr lang="en-US" sz="1010" dirty="0"/>
          </a:p>
        </p:txBody>
      </p:sp>
      <p:sp>
        <p:nvSpPr>
          <p:cNvPr id="38" name="Text 35"/>
          <p:cNvSpPr/>
          <p:nvPr/>
        </p:nvSpPr>
        <p:spPr>
          <a:xfrm>
            <a:off x="3166454" y="4554008"/>
            <a:ext cx="1993005" cy="30633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30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Upload creatives to Meta Ads Manager, LinkedIn Campaign Manager, etc.</a:t>
            </a:r>
            <a:endParaRPr lang="en-US" sz="830" dirty="0"/>
          </a:p>
        </p:txBody>
      </p:sp>
      <p:sp>
        <p:nvSpPr>
          <p:cNvPr id="39" name="Text 36"/>
          <p:cNvSpPr/>
          <p:nvPr/>
        </p:nvSpPr>
        <p:spPr>
          <a:xfrm>
            <a:off x="5791055" y="4368800"/>
            <a:ext cx="1993005" cy="18859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10" b="1" dirty="0">
                <a:solidFill>
                  <a:srgbClr val="1A1A2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Set ad destinations</a:t>
            </a:r>
            <a:endParaRPr lang="en-US" sz="1010" dirty="0"/>
          </a:p>
        </p:txBody>
      </p:sp>
      <p:sp>
        <p:nvSpPr>
          <p:cNvPr id="40" name="Text 37"/>
          <p:cNvSpPr/>
          <p:nvPr/>
        </p:nvSpPr>
        <p:spPr>
          <a:xfrm>
            <a:off x="5791055" y="4554008"/>
            <a:ext cx="1993005" cy="30633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30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Use landing page URLs as click-through destinations in each ad set</a:t>
            </a:r>
            <a:endParaRPr lang="en-US" sz="830" dirty="0"/>
          </a:p>
        </p:txBody>
      </p:sp>
      <p:sp>
        <p:nvSpPr>
          <p:cNvPr id="41" name="Text 38"/>
          <p:cNvSpPr/>
          <p:nvPr/>
        </p:nvSpPr>
        <p:spPr>
          <a:xfrm>
            <a:off x="8415656" y="4368800"/>
            <a:ext cx="1993005" cy="18859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10" b="1" dirty="0">
                <a:solidFill>
                  <a:srgbClr val="1A1A2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Campaigns live</a:t>
            </a:r>
            <a:endParaRPr lang="en-US" sz="1010" dirty="0"/>
          </a:p>
        </p:txBody>
      </p:sp>
      <p:sp>
        <p:nvSpPr>
          <p:cNvPr id="42" name="Text 39"/>
          <p:cNvSpPr/>
          <p:nvPr/>
        </p:nvSpPr>
        <p:spPr>
          <a:xfrm>
            <a:off x="8415656" y="4554008"/>
            <a:ext cx="1993005" cy="30633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30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Ads running with tracked links, matched creatives, and per-persona landing pages</a:t>
            </a:r>
            <a:endParaRPr lang="en-US" sz="830" dirty="0"/>
          </a:p>
        </p:txBody>
      </p:sp>
      <p:sp>
        <p:nvSpPr>
          <p:cNvPr id="43" name="Text 40"/>
          <p:cNvSpPr/>
          <p:nvPr/>
        </p:nvSpPr>
        <p:spPr>
          <a:xfrm>
            <a:off x="8415656" y="4865423"/>
            <a:ext cx="1993005" cy="138853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710" b="1" dirty="0">
                <a:solidFill>
                  <a:srgbClr val="9CA3A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✓ End-to-end delivery</a:t>
            </a:r>
            <a:endParaRPr lang="en-US" sz="710" dirty="0"/>
          </a:p>
        </p:txBody>
      </p:sp>
      <p:sp>
        <p:nvSpPr>
          <p:cNvPr id="44" name="Text 41"/>
          <p:cNvSpPr/>
          <p:nvPr/>
        </p:nvSpPr>
        <p:spPr>
          <a:xfrm>
            <a:off x="372524" y="5588000"/>
            <a:ext cx="2988475" cy="138853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710" i="1" dirty="0">
                <a:solidFill>
                  <a:srgbClr val="9CA3A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Agency is fully read-only — no editing, no approval controls, no raw assets.</a:t>
            </a:r>
            <a:endParaRPr lang="en-US" sz="710" dirty="0"/>
          </a:p>
        </p:txBody>
      </p:sp>
      <p:sp>
        <p:nvSpPr>
          <p:cNvPr id="45" name="Text 42"/>
          <p:cNvSpPr/>
          <p:nvPr/>
        </p:nvSpPr>
        <p:spPr>
          <a:xfrm>
            <a:off x="372524" y="6637867"/>
            <a:ext cx="812066" cy="14732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750" b="1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Agency action</a:t>
            </a:r>
            <a:endParaRPr lang="en-US" sz="750" dirty="0"/>
          </a:p>
        </p:txBody>
      </p:sp>
      <p:sp>
        <p:nvSpPr>
          <p:cNvPr id="46" name="Text 43"/>
          <p:cNvSpPr/>
          <p:nvPr/>
        </p:nvSpPr>
        <p:spPr>
          <a:xfrm>
            <a:off x="1308200" y="6637867"/>
            <a:ext cx="705707" cy="14732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750" b="1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Notification</a:t>
            </a:r>
            <a:endParaRPr lang="en-US" sz="750" dirty="0"/>
          </a:p>
        </p:txBody>
      </p:sp>
      <p:sp>
        <p:nvSpPr>
          <p:cNvPr id="47" name="Text 44"/>
          <p:cNvSpPr/>
          <p:nvPr/>
        </p:nvSpPr>
        <p:spPr>
          <a:xfrm>
            <a:off x="9937502" y="6637867"/>
            <a:ext cx="1588731" cy="14732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750" dirty="0">
                <a:solidFill>
                  <a:srgbClr val="B0B8C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Nova Creative Operations · OneForma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04792" y="127000"/>
            <a:ext cx="3389308" cy="32512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System Pipeline — All 6 Stages</a:t>
            </a:r>
            <a:endParaRPr lang="en-US" sz="2100" dirty="0"/>
          </a:p>
        </p:txBody>
      </p:sp>
      <p:sp>
        <p:nvSpPr>
          <p:cNvPr id="4" name="Text 1"/>
          <p:cNvSpPr/>
          <p:nvPr/>
        </p:nvSpPr>
        <p:spPr>
          <a:xfrm>
            <a:off x="541853" y="982133"/>
            <a:ext cx="1993005" cy="18859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10" b="1" dirty="0">
                <a:solidFill>
                  <a:srgbClr val="1A1A2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Intake → compute_job</a:t>
            </a:r>
            <a:endParaRPr lang="en-US" sz="1010" dirty="0"/>
          </a:p>
        </p:txBody>
      </p:sp>
      <p:sp>
        <p:nvSpPr>
          <p:cNvPr id="5" name="Text 2"/>
          <p:cNvSpPr/>
          <p:nvPr/>
        </p:nvSpPr>
        <p:spPr>
          <a:xfrm>
            <a:off x="541853" y="1167342"/>
            <a:ext cx="1993005" cy="30633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30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Recruiter submits → intake_request created → compute_job queued → worker claims</a:t>
            </a:r>
            <a:endParaRPr lang="en-US" sz="830" dirty="0"/>
          </a:p>
        </p:txBody>
      </p:sp>
      <p:sp>
        <p:nvSpPr>
          <p:cNvPr id="6" name="Text 3"/>
          <p:cNvSpPr/>
          <p:nvPr/>
        </p:nvSpPr>
        <p:spPr>
          <a:xfrm>
            <a:off x="541853" y="1478756"/>
            <a:ext cx="1993005" cy="138853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710" b="1" dirty="0">
                <a:solidFill>
                  <a:srgbClr val="9CA3A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Status: draft → generating</a:t>
            </a:r>
            <a:endParaRPr lang="en-US" sz="710" dirty="0"/>
          </a:p>
        </p:txBody>
      </p:sp>
      <p:sp>
        <p:nvSpPr>
          <p:cNvPr id="7" name="Text 4"/>
          <p:cNvSpPr/>
          <p:nvPr/>
        </p:nvSpPr>
        <p:spPr>
          <a:xfrm>
            <a:off x="3166454" y="982133"/>
            <a:ext cx="1993005" cy="18859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10" b="1" dirty="0">
                <a:solidFill>
                  <a:srgbClr val="1A1A2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Stage 1: Intelligence</a:t>
            </a:r>
            <a:endParaRPr lang="en-US" sz="1010" dirty="0"/>
          </a:p>
        </p:txBody>
      </p:sp>
      <p:sp>
        <p:nvSpPr>
          <p:cNvPr id="8" name="Text 5"/>
          <p:cNvSpPr/>
          <p:nvPr/>
        </p:nvSpPr>
        <p:spPr>
          <a:xfrm>
            <a:off x="3166454" y="1167342"/>
            <a:ext cx="1993005" cy="176027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30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Kimi K2.5 + Qwen 3.5 397B</a:t>
            </a:r>
            <a:endParaRPr lang="en-US" sz="830" dirty="0"/>
          </a:p>
        </p:txBody>
      </p:sp>
      <p:sp>
        <p:nvSpPr>
          <p:cNvPr id="9" name="Text 6"/>
          <p:cNvSpPr/>
          <p:nvPr/>
        </p:nvSpPr>
        <p:spPr>
          <a:xfrm>
            <a:off x="3166454" y="1331516"/>
            <a:ext cx="1993005" cy="183436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790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Research (Kimi) + reasoning (Qwen)</a:t>
            </a:r>
            <a:endParaRPr lang="en-US" sz="790" dirty="0"/>
          </a:p>
        </p:txBody>
      </p:sp>
      <p:sp>
        <p:nvSpPr>
          <p:cNvPr id="10" name="Text 7"/>
          <p:cNvSpPr/>
          <p:nvPr/>
        </p:nvSpPr>
        <p:spPr>
          <a:xfrm>
            <a:off x="3166454" y="1469231"/>
            <a:ext cx="1993005" cy="183436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790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Personas, brief, design direction</a:t>
            </a:r>
            <a:endParaRPr lang="en-US" sz="790" dirty="0"/>
          </a:p>
        </p:txBody>
      </p:sp>
      <p:sp>
        <p:nvSpPr>
          <p:cNvPr id="11" name="Text 8"/>
          <p:cNvSpPr/>
          <p:nvPr/>
        </p:nvSpPr>
        <p:spPr>
          <a:xfrm>
            <a:off x="3166454" y="1606947"/>
            <a:ext cx="1993005" cy="183436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790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🛡️ 8-dim eval gate (Qwen 3.5)</a:t>
            </a:r>
            <a:endParaRPr lang="en-US" sz="790" dirty="0"/>
          </a:p>
        </p:txBody>
      </p:sp>
      <p:sp>
        <p:nvSpPr>
          <p:cNvPr id="12" name="Text 9"/>
          <p:cNvSpPr/>
          <p:nvPr/>
        </p:nvSpPr>
        <p:spPr>
          <a:xfrm>
            <a:off x="5791055" y="982133"/>
            <a:ext cx="1993005" cy="18859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10" b="1" dirty="0">
                <a:solidFill>
                  <a:srgbClr val="1A1A2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Stage 2: Images</a:t>
            </a:r>
            <a:endParaRPr lang="en-US" sz="1010" dirty="0"/>
          </a:p>
        </p:txBody>
      </p:sp>
      <p:sp>
        <p:nvSpPr>
          <p:cNvPr id="13" name="Text 10"/>
          <p:cNvSpPr/>
          <p:nvPr/>
        </p:nvSpPr>
        <p:spPr>
          <a:xfrm>
            <a:off x="5791055" y="1167342"/>
            <a:ext cx="1993005" cy="176027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30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Qwen 3.5 + Seedream 4.5</a:t>
            </a:r>
            <a:endParaRPr lang="en-US" sz="830" dirty="0"/>
          </a:p>
        </p:txBody>
      </p:sp>
      <p:sp>
        <p:nvSpPr>
          <p:cNvPr id="14" name="Text 11"/>
          <p:cNvSpPr/>
          <p:nvPr/>
        </p:nvSpPr>
        <p:spPr>
          <a:xfrm>
            <a:off x="5791055" y="1331516"/>
            <a:ext cx="1993005" cy="183436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790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Actor desc (Qwen) → images (Seedream)</a:t>
            </a:r>
            <a:endParaRPr lang="en-US" sz="790" dirty="0"/>
          </a:p>
        </p:txBody>
      </p:sp>
      <p:sp>
        <p:nvSpPr>
          <p:cNvPr id="15" name="Text 12"/>
          <p:cNvSpPr/>
          <p:nvPr/>
        </p:nvSpPr>
        <p:spPr>
          <a:xfrm>
            <a:off x="5791055" y="1469231"/>
            <a:ext cx="1993005" cy="183436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790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Cleanup: Flux 2 Pro (optional)</a:t>
            </a:r>
            <a:endParaRPr lang="en-US" sz="790" dirty="0"/>
          </a:p>
        </p:txBody>
      </p:sp>
      <p:sp>
        <p:nvSpPr>
          <p:cNvPr id="16" name="Text 13"/>
          <p:cNvSpPr/>
          <p:nvPr/>
        </p:nvSpPr>
        <p:spPr>
          <a:xfrm>
            <a:off x="5791055" y="1606947"/>
            <a:ext cx="1993005" cy="183436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790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🛡️ VQA gate (Qwen3-VL local)</a:t>
            </a:r>
            <a:endParaRPr lang="en-US" sz="790" dirty="0"/>
          </a:p>
        </p:txBody>
      </p:sp>
      <p:sp>
        <p:nvSpPr>
          <p:cNvPr id="17" name="Text 14"/>
          <p:cNvSpPr/>
          <p:nvPr/>
        </p:nvSpPr>
        <p:spPr>
          <a:xfrm>
            <a:off x="8415656" y="982133"/>
            <a:ext cx="1993005" cy="18859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10" b="1" dirty="0">
                <a:solidFill>
                  <a:srgbClr val="1A1A2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Stage 3: Copy</a:t>
            </a:r>
            <a:endParaRPr lang="en-US" sz="1010" dirty="0"/>
          </a:p>
        </p:txBody>
      </p:sp>
      <p:sp>
        <p:nvSpPr>
          <p:cNvPr id="18" name="Text 15"/>
          <p:cNvSpPr/>
          <p:nvPr/>
        </p:nvSpPr>
        <p:spPr>
          <a:xfrm>
            <a:off x="8415656" y="1167342"/>
            <a:ext cx="1993005" cy="176027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30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Gemma 3 27B (creative specialist)</a:t>
            </a:r>
            <a:endParaRPr lang="en-US" sz="830" dirty="0"/>
          </a:p>
        </p:txBody>
      </p:sp>
      <p:sp>
        <p:nvSpPr>
          <p:cNvPr id="19" name="Text 16"/>
          <p:cNvSpPr/>
          <p:nvPr/>
        </p:nvSpPr>
        <p:spPr>
          <a:xfrm>
            <a:off x="8415656" y="1331516"/>
            <a:ext cx="1993005" cy="183436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790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Per persona × channel × language</a:t>
            </a:r>
            <a:endParaRPr lang="en-US" sz="790" dirty="0"/>
          </a:p>
        </p:txBody>
      </p:sp>
      <p:sp>
        <p:nvSpPr>
          <p:cNvPr id="20" name="Text 17"/>
          <p:cNvSpPr/>
          <p:nvPr/>
        </p:nvSpPr>
        <p:spPr>
          <a:xfrm>
            <a:off x="8415656" y="1469231"/>
            <a:ext cx="1993005" cy="183436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790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3 pillar variations each</a:t>
            </a:r>
            <a:endParaRPr lang="en-US" sz="790" dirty="0"/>
          </a:p>
        </p:txBody>
      </p:sp>
      <p:sp>
        <p:nvSpPr>
          <p:cNvPr id="21" name="Text 18"/>
          <p:cNvSpPr/>
          <p:nvPr/>
        </p:nvSpPr>
        <p:spPr>
          <a:xfrm>
            <a:off x="8415656" y="1606947"/>
            <a:ext cx="1993005" cy="183436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790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🛡️ Copy quality gate</a:t>
            </a:r>
            <a:endParaRPr lang="en-US" sz="790" dirty="0"/>
          </a:p>
        </p:txBody>
      </p:sp>
      <p:sp>
        <p:nvSpPr>
          <p:cNvPr id="22" name="Text 19"/>
          <p:cNvSpPr/>
          <p:nvPr/>
        </p:nvSpPr>
        <p:spPr>
          <a:xfrm>
            <a:off x="8415656" y="2675467"/>
            <a:ext cx="1993005" cy="18859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10" b="1" dirty="0">
                <a:solidFill>
                  <a:srgbClr val="1A1A2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Stage 4: Composition</a:t>
            </a:r>
            <a:endParaRPr lang="en-US" sz="1010" dirty="0"/>
          </a:p>
        </p:txBody>
      </p:sp>
      <p:sp>
        <p:nvSpPr>
          <p:cNvPr id="23" name="Text 20"/>
          <p:cNvSpPr/>
          <p:nvPr/>
        </p:nvSpPr>
        <p:spPr>
          <a:xfrm>
            <a:off x="8415656" y="2860675"/>
            <a:ext cx="1993005" cy="176027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30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GLM-5 (design) + Gemma 4 (VQA)</a:t>
            </a:r>
            <a:endParaRPr lang="en-US" sz="830" dirty="0"/>
          </a:p>
        </p:txBody>
      </p:sp>
      <p:sp>
        <p:nvSpPr>
          <p:cNvPr id="24" name="Text 21"/>
          <p:cNvSpPr/>
          <p:nvPr/>
        </p:nvSpPr>
        <p:spPr>
          <a:xfrm>
            <a:off x="8415656" y="3024849"/>
            <a:ext cx="1993005" cy="183436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790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HTML/CSS → Playwright → PNG</a:t>
            </a:r>
            <a:endParaRPr lang="en-US" sz="790" dirty="0"/>
          </a:p>
        </p:txBody>
      </p:sp>
      <p:sp>
        <p:nvSpPr>
          <p:cNvPr id="25" name="Text 22"/>
          <p:cNvSpPr/>
          <p:nvPr/>
        </p:nvSpPr>
        <p:spPr>
          <a:xfrm>
            <a:off x="8415656" y="3162565"/>
            <a:ext cx="1993005" cy="183436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790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Flux 2 edit loop (up to 3x)</a:t>
            </a:r>
            <a:endParaRPr lang="en-US" sz="790" dirty="0"/>
          </a:p>
        </p:txBody>
      </p:sp>
      <p:sp>
        <p:nvSpPr>
          <p:cNvPr id="26" name="Text 23"/>
          <p:cNvSpPr/>
          <p:nvPr/>
        </p:nvSpPr>
        <p:spPr>
          <a:xfrm>
            <a:off x="8415656" y="3300280"/>
            <a:ext cx="1993005" cy="183436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790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🛡️ VQA ≥ 0.85 (Gemma 4 31B)</a:t>
            </a:r>
            <a:endParaRPr lang="en-US" sz="790" dirty="0"/>
          </a:p>
        </p:txBody>
      </p:sp>
      <p:sp>
        <p:nvSpPr>
          <p:cNvPr id="27" name="Text 24"/>
          <p:cNvSpPr/>
          <p:nvPr/>
        </p:nvSpPr>
        <p:spPr>
          <a:xfrm>
            <a:off x="5791055" y="2675467"/>
            <a:ext cx="1993005" cy="18859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10" b="1" dirty="0">
                <a:solidFill>
                  <a:srgbClr val="1A1A2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Stage 5: Video</a:t>
            </a:r>
            <a:endParaRPr lang="en-US" sz="1010" dirty="0"/>
          </a:p>
        </p:txBody>
      </p:sp>
      <p:sp>
        <p:nvSpPr>
          <p:cNvPr id="28" name="Text 25"/>
          <p:cNvSpPr/>
          <p:nvPr/>
        </p:nvSpPr>
        <p:spPr>
          <a:xfrm>
            <a:off x="5791055" y="2860675"/>
            <a:ext cx="1993005" cy="176027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30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Gemma 4 + Seedream + Kling V3</a:t>
            </a:r>
            <a:endParaRPr lang="en-US" sz="830" dirty="0"/>
          </a:p>
        </p:txBody>
      </p:sp>
      <p:sp>
        <p:nvSpPr>
          <p:cNvPr id="29" name="Text 26"/>
          <p:cNvSpPr/>
          <p:nvPr/>
        </p:nvSpPr>
        <p:spPr>
          <a:xfrm>
            <a:off x="5791055" y="3024849"/>
            <a:ext cx="1993005" cy="183436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790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Storyboard (Gemma 4 31B)</a:t>
            </a:r>
            <a:endParaRPr lang="en-US" sz="790" dirty="0"/>
          </a:p>
        </p:txBody>
      </p:sp>
      <p:sp>
        <p:nvSpPr>
          <p:cNvPr id="30" name="Text 27"/>
          <p:cNvSpPr/>
          <p:nvPr/>
        </p:nvSpPr>
        <p:spPr>
          <a:xfrm>
            <a:off x="5791055" y="3162565"/>
            <a:ext cx="1993005" cy="183436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790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Scenes (Seedream 4.5)</a:t>
            </a:r>
            <a:endParaRPr lang="en-US" sz="790" dirty="0"/>
          </a:p>
        </p:txBody>
      </p:sp>
      <p:sp>
        <p:nvSpPr>
          <p:cNvPr id="31" name="Text 28"/>
          <p:cNvSpPr/>
          <p:nvPr/>
        </p:nvSpPr>
        <p:spPr>
          <a:xfrm>
            <a:off x="5791055" y="3300280"/>
            <a:ext cx="1993005" cy="183436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790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Video (Kling V3 Omni / Sedeo)</a:t>
            </a:r>
            <a:endParaRPr lang="en-US" sz="790" dirty="0"/>
          </a:p>
        </p:txBody>
      </p:sp>
      <p:sp>
        <p:nvSpPr>
          <p:cNvPr id="32" name="Text 29"/>
          <p:cNvSpPr/>
          <p:nvPr/>
        </p:nvSpPr>
        <p:spPr>
          <a:xfrm>
            <a:off x="3166454" y="2675467"/>
            <a:ext cx="1993005" cy="18859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10" b="1" dirty="0">
                <a:solidFill>
                  <a:srgbClr val="1A1A2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Stage 6: Landing Pages</a:t>
            </a:r>
            <a:endParaRPr lang="en-US" sz="1010" dirty="0"/>
          </a:p>
        </p:txBody>
      </p:sp>
      <p:sp>
        <p:nvSpPr>
          <p:cNvPr id="33" name="Text 30"/>
          <p:cNvSpPr/>
          <p:nvPr/>
        </p:nvSpPr>
        <p:spPr>
          <a:xfrm>
            <a:off x="3166454" y="2860675"/>
            <a:ext cx="1993005" cy="176027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30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Gemma 4 (copy) + GLM-5 (HTML)</a:t>
            </a:r>
            <a:endParaRPr lang="en-US" sz="830" dirty="0"/>
          </a:p>
        </p:txBody>
      </p:sp>
      <p:sp>
        <p:nvSpPr>
          <p:cNvPr id="34" name="Text 31"/>
          <p:cNvSpPr/>
          <p:nvPr/>
        </p:nvSpPr>
        <p:spPr>
          <a:xfrm>
            <a:off x="3166454" y="3024849"/>
            <a:ext cx="1993005" cy="183436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790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Per-persona, 5 templates</a:t>
            </a:r>
            <a:endParaRPr lang="en-US" sz="790" dirty="0"/>
          </a:p>
        </p:txBody>
      </p:sp>
      <p:sp>
        <p:nvSpPr>
          <p:cNvPr id="35" name="Text 32"/>
          <p:cNvSpPr/>
          <p:nvPr/>
        </p:nvSpPr>
        <p:spPr>
          <a:xfrm>
            <a:off x="3166454" y="3162565"/>
            <a:ext cx="1993005" cy="183436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790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Hard facts injected (Jinja2)</a:t>
            </a:r>
            <a:endParaRPr lang="en-US" sz="790" dirty="0"/>
          </a:p>
        </p:txBody>
      </p:sp>
      <p:sp>
        <p:nvSpPr>
          <p:cNvPr id="36" name="Text 33"/>
          <p:cNvSpPr/>
          <p:nvPr/>
        </p:nvSpPr>
        <p:spPr>
          <a:xfrm>
            <a:off x="3166454" y="3300280"/>
            <a:ext cx="1993005" cy="183436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790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🛡️ Drift validation (deterministic)</a:t>
            </a:r>
            <a:endParaRPr lang="en-US" sz="790" dirty="0"/>
          </a:p>
        </p:txBody>
      </p:sp>
      <p:sp>
        <p:nvSpPr>
          <p:cNvPr id="37" name="Text 34"/>
          <p:cNvSpPr/>
          <p:nvPr/>
        </p:nvSpPr>
        <p:spPr>
          <a:xfrm>
            <a:off x="541853" y="2675467"/>
            <a:ext cx="1993005" cy="18859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10" b="1" dirty="0">
                <a:solidFill>
                  <a:srgbClr val="1A1A2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Pipeline complete</a:t>
            </a:r>
            <a:endParaRPr lang="en-US" sz="1010" dirty="0"/>
          </a:p>
        </p:txBody>
      </p:sp>
      <p:sp>
        <p:nvSpPr>
          <p:cNvPr id="38" name="Text 35"/>
          <p:cNvSpPr/>
          <p:nvPr/>
        </p:nvSpPr>
        <p:spPr>
          <a:xfrm>
            <a:off x="541853" y="2860675"/>
            <a:ext cx="1993005" cy="176027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30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All 6 stages done — status → review</a:t>
            </a:r>
            <a:endParaRPr lang="en-US" sz="830" dirty="0"/>
          </a:p>
        </p:txBody>
      </p:sp>
      <p:sp>
        <p:nvSpPr>
          <p:cNvPr id="39" name="Text 36"/>
          <p:cNvSpPr/>
          <p:nvPr/>
        </p:nvSpPr>
        <p:spPr>
          <a:xfrm>
            <a:off x="541853" y="3041782"/>
            <a:ext cx="1993005" cy="181187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710" b="1" dirty="0">
                <a:solidFill>
                  <a:srgbClr val="9CA3A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📩 Teams + Outlook: Creatives ready</a:t>
            </a:r>
            <a:endParaRPr lang="en-US" sz="710" dirty="0"/>
          </a:p>
        </p:txBody>
      </p:sp>
      <p:sp>
        <p:nvSpPr>
          <p:cNvPr id="40" name="Text 37"/>
          <p:cNvSpPr/>
          <p:nvPr/>
        </p:nvSpPr>
        <p:spPr>
          <a:xfrm>
            <a:off x="541853" y="4368800"/>
            <a:ext cx="1993005" cy="18859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10" b="1" dirty="0">
                <a:solidFill>
                  <a:srgbClr val="1A1A2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Marketing reviews all</a:t>
            </a:r>
            <a:endParaRPr lang="en-US" sz="1010" dirty="0"/>
          </a:p>
        </p:txBody>
      </p:sp>
      <p:sp>
        <p:nvSpPr>
          <p:cNvPr id="41" name="Text 38"/>
          <p:cNvSpPr/>
          <p:nvPr/>
        </p:nvSpPr>
        <p:spPr>
          <a:xfrm>
            <a:off x="541853" y="4554008"/>
            <a:ext cx="1993005" cy="30633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30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Strategy, creatives, copy, AND landing pages — edits inline</a:t>
            </a:r>
            <a:endParaRPr lang="en-US" sz="830" dirty="0"/>
          </a:p>
        </p:txBody>
      </p:sp>
      <p:sp>
        <p:nvSpPr>
          <p:cNvPr id="42" name="Text 39"/>
          <p:cNvSpPr/>
          <p:nvPr/>
        </p:nvSpPr>
        <p:spPr>
          <a:xfrm>
            <a:off x="541853" y="4865423"/>
            <a:ext cx="1993005" cy="138853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710" b="1" dirty="0">
                <a:solidFill>
                  <a:srgbClr val="9CA3A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Gate 1 — includes LP review</a:t>
            </a:r>
            <a:endParaRPr lang="en-US" sz="710" dirty="0"/>
          </a:p>
        </p:txBody>
      </p:sp>
      <p:sp>
        <p:nvSpPr>
          <p:cNvPr id="43" name="Text 40"/>
          <p:cNvSpPr/>
          <p:nvPr/>
        </p:nvSpPr>
        <p:spPr>
          <a:xfrm>
            <a:off x="3166454" y="4368800"/>
            <a:ext cx="1993005" cy="18859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10" b="1" dirty="0">
                <a:solidFill>
                  <a:srgbClr val="1A1A2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Designer polishes + deploys</a:t>
            </a:r>
            <a:endParaRPr lang="en-US" sz="1010" dirty="0"/>
          </a:p>
        </p:txBody>
      </p:sp>
      <p:sp>
        <p:nvSpPr>
          <p:cNvPr id="44" name="Text 41"/>
          <p:cNvSpPr/>
          <p:nvPr/>
        </p:nvSpPr>
        <p:spPr>
          <a:xfrm>
            <a:off x="3166454" y="4554008"/>
            <a:ext cx="1993005" cy="30633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30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Creatives + Figma + LP edits in Dreamweaver → FTP to WordPress</a:t>
            </a:r>
            <a:endParaRPr lang="en-US" sz="830" dirty="0"/>
          </a:p>
        </p:txBody>
      </p:sp>
      <p:sp>
        <p:nvSpPr>
          <p:cNvPr id="45" name="Text 42"/>
          <p:cNvSpPr/>
          <p:nvPr/>
        </p:nvSpPr>
        <p:spPr>
          <a:xfrm>
            <a:off x="3166454" y="4865423"/>
            <a:ext cx="1993005" cy="138853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710" b="1" dirty="0">
                <a:solidFill>
                  <a:srgbClr val="9CA3A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Gate 2 — LP URL auto-captured</a:t>
            </a:r>
            <a:endParaRPr lang="en-US" sz="710" dirty="0"/>
          </a:p>
        </p:txBody>
      </p:sp>
      <p:sp>
        <p:nvSpPr>
          <p:cNvPr id="46" name="Text 43"/>
          <p:cNvSpPr/>
          <p:nvPr/>
        </p:nvSpPr>
        <p:spPr>
          <a:xfrm>
            <a:off x="5791055" y="4368800"/>
            <a:ext cx="1993005" cy="18859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10" b="1" dirty="0">
                <a:solidFill>
                  <a:srgbClr val="1A1A2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Final approval</a:t>
            </a:r>
            <a:endParaRPr lang="en-US" sz="1010" dirty="0"/>
          </a:p>
        </p:txBody>
      </p:sp>
      <p:sp>
        <p:nvSpPr>
          <p:cNvPr id="47" name="Text 44"/>
          <p:cNvSpPr/>
          <p:nvPr/>
        </p:nvSpPr>
        <p:spPr>
          <a:xfrm>
            <a:off x="5791055" y="4554008"/>
            <a:ext cx="1993005" cy="30633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30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Marketing Manager signs off — status → sent</a:t>
            </a:r>
            <a:endParaRPr lang="en-US" sz="830" dirty="0"/>
          </a:p>
        </p:txBody>
      </p:sp>
      <p:sp>
        <p:nvSpPr>
          <p:cNvPr id="48" name="Text 45"/>
          <p:cNvSpPr/>
          <p:nvPr/>
        </p:nvSpPr>
        <p:spPr>
          <a:xfrm>
            <a:off x="5791055" y="4865423"/>
            <a:ext cx="1993005" cy="138853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710" b="1" dirty="0">
                <a:solidFill>
                  <a:srgbClr val="9CA3A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Gate 3 — ✓ Approved</a:t>
            </a:r>
            <a:endParaRPr lang="en-US" sz="710" dirty="0"/>
          </a:p>
        </p:txBody>
      </p:sp>
      <p:sp>
        <p:nvSpPr>
          <p:cNvPr id="49" name="Text 46"/>
          <p:cNvSpPr/>
          <p:nvPr/>
        </p:nvSpPr>
        <p:spPr>
          <a:xfrm>
            <a:off x="8415656" y="4368800"/>
            <a:ext cx="1993005" cy="18859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10" b="1" dirty="0">
                <a:solidFill>
                  <a:srgbClr val="1A1A2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Delivery</a:t>
            </a:r>
            <a:endParaRPr lang="en-US" sz="1010" dirty="0"/>
          </a:p>
        </p:txBody>
      </p:sp>
      <p:sp>
        <p:nvSpPr>
          <p:cNvPr id="50" name="Text 47"/>
          <p:cNvSpPr/>
          <p:nvPr/>
        </p:nvSpPr>
        <p:spPr>
          <a:xfrm>
            <a:off x="8415656" y="4554008"/>
            <a:ext cx="1993005" cy="30633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30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Agency magic link + recruiter library + live WP landing pages</a:t>
            </a:r>
            <a:endParaRPr lang="en-US" sz="830" dirty="0"/>
          </a:p>
        </p:txBody>
      </p:sp>
      <p:sp>
        <p:nvSpPr>
          <p:cNvPr id="51" name="Text 48"/>
          <p:cNvSpPr/>
          <p:nvPr/>
        </p:nvSpPr>
        <p:spPr>
          <a:xfrm>
            <a:off x="8415656" y="4865423"/>
            <a:ext cx="1993005" cy="181187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710" b="1" dirty="0">
                <a:solidFill>
                  <a:srgbClr val="9CA3A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📩 Teams + Outlook to all</a:t>
            </a:r>
            <a:endParaRPr lang="en-US" sz="710" dirty="0"/>
          </a:p>
        </p:txBody>
      </p:sp>
      <p:sp>
        <p:nvSpPr>
          <p:cNvPr id="52" name="Text 49"/>
          <p:cNvSpPr/>
          <p:nvPr/>
        </p:nvSpPr>
        <p:spPr>
          <a:xfrm>
            <a:off x="372524" y="5588000"/>
            <a:ext cx="7537210" cy="138853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710" i="1" dirty="0">
                <a:solidFill>
                  <a:srgbClr val="9CA3A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Kimi K2.5 (research) · Qwen 3.5 397B (reasoning) · Gemma 3 27B (copy) · Gemma 4 31B (VQA/storyboard) · GLM-5 (design/HTML) · Seedream 4.5 (images) · Flux 2 Pro (edit) · Kling V3 (video)</a:t>
            </a:r>
            <a:endParaRPr lang="en-US" sz="710" dirty="0"/>
          </a:p>
        </p:txBody>
      </p:sp>
      <p:sp>
        <p:nvSpPr>
          <p:cNvPr id="53" name="Text 50"/>
          <p:cNvSpPr/>
          <p:nvPr/>
        </p:nvSpPr>
        <p:spPr>
          <a:xfrm>
            <a:off x="372524" y="6637867"/>
            <a:ext cx="807304" cy="14732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750" b="1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Pipeline stage</a:t>
            </a:r>
            <a:endParaRPr lang="en-US" sz="750" dirty="0"/>
          </a:p>
        </p:txBody>
      </p:sp>
      <p:sp>
        <p:nvSpPr>
          <p:cNvPr id="54" name="Text 51"/>
          <p:cNvSpPr/>
          <p:nvPr/>
        </p:nvSpPr>
        <p:spPr>
          <a:xfrm>
            <a:off x="1303437" y="6637867"/>
            <a:ext cx="794604" cy="14732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750" b="1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Human action</a:t>
            </a:r>
            <a:endParaRPr lang="en-US" sz="750" dirty="0"/>
          </a:p>
        </p:txBody>
      </p:sp>
      <p:sp>
        <p:nvSpPr>
          <p:cNvPr id="55" name="Text 52"/>
          <p:cNvSpPr/>
          <p:nvPr/>
        </p:nvSpPr>
        <p:spPr>
          <a:xfrm>
            <a:off x="2221651" y="6637867"/>
            <a:ext cx="804129" cy="14732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750" b="1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Stage 6 (new)</a:t>
            </a:r>
            <a:endParaRPr lang="en-US" sz="750" dirty="0"/>
          </a:p>
        </p:txBody>
      </p:sp>
      <p:sp>
        <p:nvSpPr>
          <p:cNvPr id="56" name="Text 53"/>
          <p:cNvSpPr/>
          <p:nvPr/>
        </p:nvSpPr>
        <p:spPr>
          <a:xfrm>
            <a:off x="3149389" y="6637867"/>
            <a:ext cx="980734" cy="14732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750" b="1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Notification / Gate</a:t>
            </a:r>
            <a:endParaRPr lang="en-US" sz="750" dirty="0"/>
          </a:p>
        </p:txBody>
      </p:sp>
      <p:sp>
        <p:nvSpPr>
          <p:cNvPr id="57" name="Text 54"/>
          <p:cNvSpPr/>
          <p:nvPr/>
        </p:nvSpPr>
        <p:spPr>
          <a:xfrm>
            <a:off x="9937502" y="6637867"/>
            <a:ext cx="1588731" cy="14732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750" dirty="0">
                <a:solidFill>
                  <a:srgbClr val="B0B8C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Nova Creative Operations · OneForma</a:t>
            </a:r>
            <a:endParaRPr lang="en-US" sz="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04792" y="127000"/>
            <a:ext cx="3688412" cy="32512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Team Process — End-to-End Flow</a:t>
            </a:r>
            <a:endParaRPr lang="en-US" sz="2100" dirty="0"/>
          </a:p>
        </p:txBody>
      </p:sp>
      <p:sp>
        <p:nvSpPr>
          <p:cNvPr id="4" name="Text 1"/>
          <p:cNvSpPr/>
          <p:nvPr/>
        </p:nvSpPr>
        <p:spPr>
          <a:xfrm>
            <a:off x="541853" y="982133"/>
            <a:ext cx="1993005" cy="18859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10" b="1" dirty="0">
                <a:solidFill>
                  <a:srgbClr val="1A1A2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Recruiter submits request</a:t>
            </a:r>
            <a:endParaRPr lang="en-US" sz="1010" dirty="0"/>
          </a:p>
        </p:txBody>
      </p:sp>
      <p:sp>
        <p:nvSpPr>
          <p:cNvPr id="5" name="Text 2"/>
          <p:cNvSpPr/>
          <p:nvPr/>
        </p:nvSpPr>
        <p:spPr>
          <a:xfrm>
            <a:off x="541853" y="1167342"/>
            <a:ext cx="1993005" cy="30633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30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Fills intake wizard with job description, requirements, and budget</a:t>
            </a:r>
            <a:endParaRPr lang="en-US" sz="830" dirty="0"/>
          </a:p>
        </p:txBody>
      </p:sp>
      <p:sp>
        <p:nvSpPr>
          <p:cNvPr id="6" name="Text 3"/>
          <p:cNvSpPr/>
          <p:nvPr/>
        </p:nvSpPr>
        <p:spPr>
          <a:xfrm>
            <a:off x="541853" y="1478756"/>
            <a:ext cx="1993005" cy="138853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710" b="1" dirty="0">
                <a:solidFill>
                  <a:srgbClr val="9CA3A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Request enters the system</a:t>
            </a:r>
            <a:endParaRPr lang="en-US" sz="710" dirty="0"/>
          </a:p>
        </p:txBody>
      </p:sp>
      <p:sp>
        <p:nvSpPr>
          <p:cNvPr id="7" name="Text 4"/>
          <p:cNvSpPr/>
          <p:nvPr/>
        </p:nvSpPr>
        <p:spPr>
          <a:xfrm>
            <a:off x="3166454" y="982133"/>
            <a:ext cx="1993005" cy="18859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10" b="1" dirty="0">
                <a:solidFill>
                  <a:srgbClr val="1A1A2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Nova generates campaign</a:t>
            </a:r>
            <a:endParaRPr lang="en-US" sz="1010" dirty="0"/>
          </a:p>
        </p:txBody>
      </p:sp>
      <p:sp>
        <p:nvSpPr>
          <p:cNvPr id="8" name="Text 5"/>
          <p:cNvSpPr/>
          <p:nvPr/>
        </p:nvSpPr>
        <p:spPr>
          <a:xfrm>
            <a:off x="3166454" y="1167342"/>
            <a:ext cx="1993005" cy="436642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30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6-stage AI pipeline runs automatically — personas, images, copy, creatives, video, landing pages</a:t>
            </a:r>
            <a:endParaRPr lang="en-US" sz="830" dirty="0"/>
          </a:p>
        </p:txBody>
      </p:sp>
      <p:sp>
        <p:nvSpPr>
          <p:cNvPr id="9" name="Text 6"/>
          <p:cNvSpPr/>
          <p:nvPr/>
        </p:nvSpPr>
        <p:spPr>
          <a:xfrm>
            <a:off x="3166454" y="1609064"/>
            <a:ext cx="1993005" cy="14732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710" b="1" dirty="0">
                <a:solidFill>
                  <a:srgbClr val="9CA3A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⏱ ~15–30 minutes</a:t>
            </a:r>
            <a:endParaRPr lang="en-US" sz="710" dirty="0"/>
          </a:p>
        </p:txBody>
      </p:sp>
      <p:sp>
        <p:nvSpPr>
          <p:cNvPr id="10" name="Text 7"/>
          <p:cNvSpPr/>
          <p:nvPr/>
        </p:nvSpPr>
        <p:spPr>
          <a:xfrm>
            <a:off x="5791055" y="982133"/>
            <a:ext cx="1993005" cy="18859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10" b="1" dirty="0">
                <a:solidFill>
                  <a:srgbClr val="1A1A2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Marketing review &amp; guidance</a:t>
            </a:r>
            <a:endParaRPr lang="en-US" sz="1010" dirty="0"/>
          </a:p>
        </p:txBody>
      </p:sp>
      <p:sp>
        <p:nvSpPr>
          <p:cNvPr id="11" name="Text 8"/>
          <p:cNvSpPr/>
          <p:nvPr/>
        </p:nvSpPr>
        <p:spPr>
          <a:xfrm>
            <a:off x="5791055" y="1167342"/>
            <a:ext cx="1993005" cy="176027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30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Marketing Manager reviews output</a:t>
            </a:r>
            <a:endParaRPr lang="en-US" sz="830" dirty="0"/>
          </a:p>
        </p:txBody>
      </p:sp>
      <p:sp>
        <p:nvSpPr>
          <p:cNvPr id="12" name="Text 9"/>
          <p:cNvSpPr/>
          <p:nvPr/>
        </p:nvSpPr>
        <p:spPr>
          <a:xfrm>
            <a:off x="5791055" y="1331516"/>
            <a:ext cx="1993005" cy="183436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790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Edit media strategy</a:t>
            </a:r>
            <a:endParaRPr lang="en-US" sz="790" dirty="0"/>
          </a:p>
        </p:txBody>
      </p:sp>
      <p:sp>
        <p:nvSpPr>
          <p:cNvPr id="13" name="Text 10"/>
          <p:cNvSpPr/>
          <p:nvPr/>
        </p:nvSpPr>
        <p:spPr>
          <a:xfrm>
            <a:off x="5791055" y="1469231"/>
            <a:ext cx="1993005" cy="183436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790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Adjust budgets &amp; targeting</a:t>
            </a:r>
            <a:endParaRPr lang="en-US" sz="790" dirty="0"/>
          </a:p>
        </p:txBody>
      </p:sp>
      <p:sp>
        <p:nvSpPr>
          <p:cNvPr id="14" name="Text 11"/>
          <p:cNvSpPr/>
          <p:nvPr/>
        </p:nvSpPr>
        <p:spPr>
          <a:xfrm>
            <a:off x="5791055" y="1606947"/>
            <a:ext cx="1993005" cy="183436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790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Review ad copy</a:t>
            </a:r>
            <a:endParaRPr lang="en-US" sz="790" dirty="0"/>
          </a:p>
        </p:txBody>
      </p:sp>
      <p:sp>
        <p:nvSpPr>
          <p:cNvPr id="15" name="Text 12"/>
          <p:cNvSpPr/>
          <p:nvPr/>
        </p:nvSpPr>
        <p:spPr>
          <a:xfrm>
            <a:off x="8415656" y="982133"/>
            <a:ext cx="1993005" cy="18859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10" b="1" dirty="0">
                <a:solidFill>
                  <a:srgbClr val="1A1A2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Marketing approves for design</a:t>
            </a:r>
            <a:endParaRPr lang="en-US" sz="1010" dirty="0"/>
          </a:p>
        </p:txBody>
      </p:sp>
      <p:sp>
        <p:nvSpPr>
          <p:cNvPr id="16" name="Text 13"/>
          <p:cNvSpPr/>
          <p:nvPr/>
        </p:nvSpPr>
        <p:spPr>
          <a:xfrm>
            <a:off x="8415656" y="1167342"/>
            <a:ext cx="1993005" cy="30633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30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First approval gate — sends to designer for creative polish</a:t>
            </a:r>
            <a:endParaRPr lang="en-US" sz="830" dirty="0"/>
          </a:p>
        </p:txBody>
      </p:sp>
      <p:sp>
        <p:nvSpPr>
          <p:cNvPr id="17" name="Text 14"/>
          <p:cNvSpPr/>
          <p:nvPr/>
        </p:nvSpPr>
        <p:spPr>
          <a:xfrm>
            <a:off x="8415656" y="1478756"/>
            <a:ext cx="1993005" cy="181187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710" b="1" dirty="0">
                <a:solidFill>
                  <a:srgbClr val="9CA3A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📩 Teams + Outlook to Designer</a:t>
            </a:r>
            <a:endParaRPr lang="en-US" sz="710" dirty="0"/>
          </a:p>
        </p:txBody>
      </p:sp>
      <p:sp>
        <p:nvSpPr>
          <p:cNvPr id="18" name="Text 15"/>
          <p:cNvSpPr/>
          <p:nvPr/>
        </p:nvSpPr>
        <p:spPr>
          <a:xfrm>
            <a:off x="5621726" y="2201333"/>
            <a:ext cx="1673131" cy="138853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710" i="1" dirty="0">
                <a:solidFill>
                  <a:srgbClr val="9CA3A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If changes needed → regenerate pipeline.</a:t>
            </a:r>
            <a:endParaRPr lang="en-US" sz="710" dirty="0"/>
          </a:p>
        </p:txBody>
      </p:sp>
      <p:sp>
        <p:nvSpPr>
          <p:cNvPr id="19" name="Text 16"/>
          <p:cNvSpPr/>
          <p:nvPr/>
        </p:nvSpPr>
        <p:spPr>
          <a:xfrm>
            <a:off x="8415656" y="2675467"/>
            <a:ext cx="1993005" cy="18859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10" b="1" dirty="0">
                <a:solidFill>
                  <a:srgbClr val="1A1A2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Designer reviews creatives</a:t>
            </a:r>
            <a:endParaRPr lang="en-US" sz="1010" dirty="0"/>
          </a:p>
        </p:txBody>
      </p:sp>
      <p:sp>
        <p:nvSpPr>
          <p:cNvPr id="20" name="Text 17"/>
          <p:cNvSpPr/>
          <p:nvPr/>
        </p:nvSpPr>
        <p:spPr>
          <a:xfrm>
            <a:off x="8415656" y="2860675"/>
            <a:ext cx="1993005" cy="176027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30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Opens gallery per persona</a:t>
            </a:r>
            <a:endParaRPr lang="en-US" sz="830" dirty="0"/>
          </a:p>
        </p:txBody>
      </p:sp>
      <p:sp>
        <p:nvSpPr>
          <p:cNvPr id="21" name="Text 18"/>
          <p:cNvSpPr/>
          <p:nvPr/>
        </p:nvSpPr>
        <p:spPr>
          <a:xfrm>
            <a:off x="8415656" y="3024849"/>
            <a:ext cx="1993005" cy="183436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790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Review all versions &amp; formats</a:t>
            </a:r>
            <a:endParaRPr lang="en-US" sz="790" dirty="0"/>
          </a:p>
        </p:txBody>
      </p:sp>
      <p:sp>
        <p:nvSpPr>
          <p:cNvPr id="22" name="Text 19"/>
          <p:cNvSpPr/>
          <p:nvPr/>
        </p:nvSpPr>
        <p:spPr>
          <a:xfrm>
            <a:off x="8415656" y="3162565"/>
            <a:ext cx="1993005" cy="183436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790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Check VQA quality scores</a:t>
            </a:r>
            <a:endParaRPr lang="en-US" sz="790" dirty="0"/>
          </a:p>
        </p:txBody>
      </p:sp>
      <p:sp>
        <p:nvSpPr>
          <p:cNvPr id="23" name="Text 20"/>
          <p:cNvSpPr/>
          <p:nvPr/>
        </p:nvSpPr>
        <p:spPr>
          <a:xfrm>
            <a:off x="8415656" y="3300280"/>
            <a:ext cx="1993005" cy="183436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790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Lightbox fullscreen preview</a:t>
            </a:r>
            <a:endParaRPr lang="en-US" sz="790" dirty="0"/>
          </a:p>
        </p:txBody>
      </p:sp>
      <p:sp>
        <p:nvSpPr>
          <p:cNvPr id="24" name="Text 21"/>
          <p:cNvSpPr/>
          <p:nvPr/>
        </p:nvSpPr>
        <p:spPr>
          <a:xfrm>
            <a:off x="5791055" y="2675467"/>
            <a:ext cx="1993005" cy="18859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10" b="1" dirty="0">
                <a:solidFill>
                  <a:srgbClr val="1A1A2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Designer edits &amp; polishes</a:t>
            </a:r>
            <a:endParaRPr lang="en-US" sz="1010" dirty="0"/>
          </a:p>
        </p:txBody>
      </p:sp>
      <p:sp>
        <p:nvSpPr>
          <p:cNvPr id="25" name="Text 22"/>
          <p:cNvSpPr/>
          <p:nvPr/>
        </p:nvSpPr>
        <p:spPr>
          <a:xfrm>
            <a:off x="5791055" y="2860675"/>
            <a:ext cx="1993005" cy="176027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30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Miguel creates</a:t>
            </a:r>
            <a:endParaRPr lang="en-US" sz="830" dirty="0"/>
          </a:p>
        </p:txBody>
      </p:sp>
      <p:sp>
        <p:nvSpPr>
          <p:cNvPr id="26" name="Text 23"/>
          <p:cNvSpPr/>
          <p:nvPr/>
        </p:nvSpPr>
        <p:spPr>
          <a:xfrm>
            <a:off x="5791055" y="3024849"/>
            <a:ext cx="1993005" cy="183436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790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Quick retouch (Flux 2)</a:t>
            </a:r>
            <a:endParaRPr lang="en-US" sz="790" dirty="0"/>
          </a:p>
        </p:txBody>
      </p:sp>
      <p:sp>
        <p:nvSpPr>
          <p:cNvPr id="27" name="Text 24"/>
          <p:cNvSpPr/>
          <p:nvPr/>
        </p:nvSpPr>
        <p:spPr>
          <a:xfrm>
            <a:off x="5791055" y="3162565"/>
            <a:ext cx="1993005" cy="183436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790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Graphic overlay edits</a:t>
            </a:r>
            <a:endParaRPr lang="en-US" sz="790" dirty="0"/>
          </a:p>
        </p:txBody>
      </p:sp>
      <p:sp>
        <p:nvSpPr>
          <p:cNvPr id="28" name="Text 25"/>
          <p:cNvSpPr/>
          <p:nvPr/>
        </p:nvSpPr>
        <p:spPr>
          <a:xfrm>
            <a:off x="5791055" y="3300280"/>
            <a:ext cx="1993005" cy="183436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790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Figma export &amp; push</a:t>
            </a:r>
            <a:endParaRPr lang="en-US" sz="790" dirty="0"/>
          </a:p>
        </p:txBody>
      </p:sp>
      <p:sp>
        <p:nvSpPr>
          <p:cNvPr id="29" name="Text 26"/>
          <p:cNvSpPr/>
          <p:nvPr/>
        </p:nvSpPr>
        <p:spPr>
          <a:xfrm>
            <a:off x="3166454" y="2675467"/>
            <a:ext cx="1993005" cy="18859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10" b="1" dirty="0">
                <a:solidFill>
                  <a:srgbClr val="1A1A2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Designer submits finals</a:t>
            </a:r>
            <a:endParaRPr lang="en-US" sz="1010" dirty="0"/>
          </a:p>
        </p:txBody>
      </p:sp>
      <p:sp>
        <p:nvSpPr>
          <p:cNvPr id="30" name="Text 27"/>
          <p:cNvSpPr/>
          <p:nvPr/>
        </p:nvSpPr>
        <p:spPr>
          <a:xfrm>
            <a:off x="3166454" y="2860675"/>
            <a:ext cx="1993005" cy="176027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30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Creatives marked as ready for final review</a:t>
            </a:r>
            <a:endParaRPr lang="en-US" sz="830" dirty="0"/>
          </a:p>
        </p:txBody>
      </p:sp>
      <p:sp>
        <p:nvSpPr>
          <p:cNvPr id="31" name="Text 28"/>
          <p:cNvSpPr/>
          <p:nvPr/>
        </p:nvSpPr>
        <p:spPr>
          <a:xfrm>
            <a:off x="3166454" y="3041782"/>
            <a:ext cx="1993005" cy="181187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710" b="1" dirty="0">
                <a:solidFill>
                  <a:srgbClr val="9CA3A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📩 Teams + Outlook to Marketing</a:t>
            </a:r>
            <a:endParaRPr lang="en-US" sz="710" dirty="0"/>
          </a:p>
        </p:txBody>
      </p:sp>
      <p:sp>
        <p:nvSpPr>
          <p:cNvPr id="32" name="Text 29"/>
          <p:cNvSpPr/>
          <p:nvPr/>
        </p:nvSpPr>
        <p:spPr>
          <a:xfrm>
            <a:off x="541853" y="2675467"/>
            <a:ext cx="1993005" cy="18859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10" b="1" dirty="0">
                <a:solidFill>
                  <a:srgbClr val="1A1A2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Marketing final approval</a:t>
            </a:r>
            <a:endParaRPr lang="en-US" sz="1010" dirty="0"/>
          </a:p>
        </p:txBody>
      </p:sp>
      <p:sp>
        <p:nvSpPr>
          <p:cNvPr id="33" name="Text 30"/>
          <p:cNvSpPr/>
          <p:nvPr/>
        </p:nvSpPr>
        <p:spPr>
          <a:xfrm>
            <a:off x="541853" y="2860675"/>
            <a:ext cx="1993005" cy="30633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30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Reviews designer's polished creatives and signs off</a:t>
            </a:r>
            <a:endParaRPr lang="en-US" sz="830" dirty="0"/>
          </a:p>
        </p:txBody>
      </p:sp>
      <p:sp>
        <p:nvSpPr>
          <p:cNvPr id="34" name="Text 31"/>
          <p:cNvSpPr/>
          <p:nvPr/>
        </p:nvSpPr>
        <p:spPr>
          <a:xfrm>
            <a:off x="541853" y="3172090"/>
            <a:ext cx="1993005" cy="138853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710" b="1" dirty="0">
                <a:solidFill>
                  <a:srgbClr val="9CA3A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✓ Campaign approved</a:t>
            </a:r>
            <a:endParaRPr lang="en-US" sz="710" dirty="0"/>
          </a:p>
        </p:txBody>
      </p:sp>
      <p:sp>
        <p:nvSpPr>
          <p:cNvPr id="35" name="Text 32"/>
          <p:cNvSpPr/>
          <p:nvPr/>
        </p:nvSpPr>
        <p:spPr>
          <a:xfrm>
            <a:off x="372524" y="3894667"/>
            <a:ext cx="1537404" cy="138853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710" i="1" dirty="0">
                <a:solidFill>
                  <a:srgbClr val="9CA3A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If revision needed → back to designer.</a:t>
            </a:r>
            <a:endParaRPr lang="en-US" sz="710" dirty="0"/>
          </a:p>
        </p:txBody>
      </p:sp>
      <p:sp>
        <p:nvSpPr>
          <p:cNvPr id="36" name="Text 33"/>
          <p:cNvSpPr/>
          <p:nvPr/>
        </p:nvSpPr>
        <p:spPr>
          <a:xfrm>
            <a:off x="541853" y="4368800"/>
            <a:ext cx="1993005" cy="18859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10" b="1" dirty="0">
                <a:solidFill>
                  <a:srgbClr val="1A1A2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Notifications sent</a:t>
            </a:r>
            <a:endParaRPr lang="en-US" sz="1010" dirty="0"/>
          </a:p>
        </p:txBody>
      </p:sp>
      <p:sp>
        <p:nvSpPr>
          <p:cNvPr id="37" name="Text 34"/>
          <p:cNvSpPr/>
          <p:nvPr/>
        </p:nvSpPr>
        <p:spPr>
          <a:xfrm>
            <a:off x="541853" y="4554008"/>
            <a:ext cx="1993005" cy="30633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30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Teams + Outlook email to Recruiter and Agency contact</a:t>
            </a:r>
            <a:endParaRPr lang="en-US" sz="830" dirty="0"/>
          </a:p>
        </p:txBody>
      </p:sp>
      <p:sp>
        <p:nvSpPr>
          <p:cNvPr id="38" name="Text 35"/>
          <p:cNvSpPr/>
          <p:nvPr/>
        </p:nvSpPr>
        <p:spPr>
          <a:xfrm>
            <a:off x="541853" y="4865423"/>
            <a:ext cx="1993005" cy="181187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710" b="1" dirty="0">
                <a:solidFill>
                  <a:srgbClr val="9CA3A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📩 Campaign live &amp; delivered</a:t>
            </a:r>
            <a:endParaRPr lang="en-US" sz="710" dirty="0"/>
          </a:p>
        </p:txBody>
      </p:sp>
      <p:sp>
        <p:nvSpPr>
          <p:cNvPr id="39" name="Text 36"/>
          <p:cNvSpPr/>
          <p:nvPr/>
        </p:nvSpPr>
        <p:spPr>
          <a:xfrm>
            <a:off x="3166454" y="4368800"/>
            <a:ext cx="1993005" cy="18859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10" b="1" dirty="0">
                <a:solidFill>
                  <a:srgbClr val="1A1A2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Recruiter accesses library</a:t>
            </a:r>
            <a:endParaRPr lang="en-US" sz="1010" dirty="0"/>
          </a:p>
        </p:txBody>
      </p:sp>
      <p:sp>
        <p:nvSpPr>
          <p:cNvPr id="40" name="Text 37"/>
          <p:cNvSpPr/>
          <p:nvPr/>
        </p:nvSpPr>
        <p:spPr>
          <a:xfrm>
            <a:off x="3166454" y="4554008"/>
            <a:ext cx="1993005" cy="176027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30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Creative library is live</a:t>
            </a:r>
            <a:endParaRPr lang="en-US" sz="830" dirty="0"/>
          </a:p>
        </p:txBody>
      </p:sp>
      <p:sp>
        <p:nvSpPr>
          <p:cNvPr id="41" name="Text 38"/>
          <p:cNvSpPr/>
          <p:nvPr/>
        </p:nvSpPr>
        <p:spPr>
          <a:xfrm>
            <a:off x="3166454" y="4718182"/>
            <a:ext cx="1993005" cy="183436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790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View composed creatives</a:t>
            </a:r>
            <a:endParaRPr lang="en-US" sz="790" dirty="0"/>
          </a:p>
        </p:txBody>
      </p:sp>
      <p:sp>
        <p:nvSpPr>
          <p:cNvPr id="42" name="Text 39"/>
          <p:cNvSpPr/>
          <p:nvPr/>
        </p:nvSpPr>
        <p:spPr>
          <a:xfrm>
            <a:off x="3166454" y="4855898"/>
            <a:ext cx="1993005" cy="183436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790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Build UTM tracked links</a:t>
            </a:r>
            <a:endParaRPr lang="en-US" sz="790" dirty="0"/>
          </a:p>
        </p:txBody>
      </p:sp>
      <p:sp>
        <p:nvSpPr>
          <p:cNvPr id="43" name="Text 40"/>
          <p:cNvSpPr/>
          <p:nvPr/>
        </p:nvSpPr>
        <p:spPr>
          <a:xfrm>
            <a:off x="3166454" y="4993614"/>
            <a:ext cx="1993005" cy="183436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790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Share with candidates</a:t>
            </a:r>
            <a:endParaRPr lang="en-US" sz="790" dirty="0"/>
          </a:p>
        </p:txBody>
      </p:sp>
      <p:sp>
        <p:nvSpPr>
          <p:cNvPr id="44" name="Text 41"/>
          <p:cNvSpPr/>
          <p:nvPr/>
        </p:nvSpPr>
        <p:spPr>
          <a:xfrm>
            <a:off x="5791055" y="4368800"/>
            <a:ext cx="1993005" cy="18859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10" b="1" dirty="0">
                <a:solidFill>
                  <a:srgbClr val="1A1A2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Marketing sends to agency</a:t>
            </a:r>
            <a:endParaRPr lang="en-US" sz="1010" dirty="0"/>
          </a:p>
        </p:txBody>
      </p:sp>
      <p:sp>
        <p:nvSpPr>
          <p:cNvPr id="45" name="Text 42"/>
          <p:cNvSpPr/>
          <p:nvPr/>
        </p:nvSpPr>
        <p:spPr>
          <a:xfrm>
            <a:off x="5791055" y="4554008"/>
            <a:ext cx="1993005" cy="176027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30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Generates magic link for paid media team</a:t>
            </a:r>
            <a:endParaRPr lang="en-US" sz="830" dirty="0"/>
          </a:p>
        </p:txBody>
      </p:sp>
      <p:sp>
        <p:nvSpPr>
          <p:cNvPr id="46" name="Text 43"/>
          <p:cNvSpPr/>
          <p:nvPr/>
        </p:nvSpPr>
        <p:spPr>
          <a:xfrm>
            <a:off x="5791055" y="4735116"/>
            <a:ext cx="1993005" cy="181187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710" b="1" dirty="0">
                <a:solidFill>
                  <a:srgbClr val="9CA3A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🔗 Magic link generated</a:t>
            </a:r>
            <a:endParaRPr lang="en-US" sz="710" dirty="0"/>
          </a:p>
        </p:txBody>
      </p:sp>
      <p:sp>
        <p:nvSpPr>
          <p:cNvPr id="47" name="Text 44"/>
          <p:cNvSpPr/>
          <p:nvPr/>
        </p:nvSpPr>
        <p:spPr>
          <a:xfrm>
            <a:off x="8415656" y="4368800"/>
            <a:ext cx="1993005" cy="18859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10" b="1" dirty="0">
                <a:solidFill>
                  <a:srgbClr val="1A1A2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Agency launches campaigns</a:t>
            </a:r>
            <a:endParaRPr lang="en-US" sz="1010" dirty="0"/>
          </a:p>
        </p:txBody>
      </p:sp>
      <p:sp>
        <p:nvSpPr>
          <p:cNvPr id="48" name="Text 45"/>
          <p:cNvSpPr/>
          <p:nvPr/>
        </p:nvSpPr>
        <p:spPr>
          <a:xfrm>
            <a:off x="8415656" y="4554008"/>
            <a:ext cx="1993005" cy="176027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30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Opens magic link portal</a:t>
            </a:r>
            <a:endParaRPr lang="en-US" sz="830" dirty="0"/>
          </a:p>
        </p:txBody>
      </p:sp>
      <p:sp>
        <p:nvSpPr>
          <p:cNvPr id="49" name="Text 46"/>
          <p:cNvSpPr/>
          <p:nvPr/>
        </p:nvSpPr>
        <p:spPr>
          <a:xfrm>
            <a:off x="8415656" y="4718182"/>
            <a:ext cx="1993005" cy="183436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790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Downloads all creatives</a:t>
            </a:r>
            <a:endParaRPr lang="en-US" sz="790" dirty="0"/>
          </a:p>
        </p:txBody>
      </p:sp>
      <p:sp>
        <p:nvSpPr>
          <p:cNvPr id="50" name="Text 47"/>
          <p:cNvSpPr/>
          <p:nvPr/>
        </p:nvSpPr>
        <p:spPr>
          <a:xfrm>
            <a:off x="8415656" y="4855898"/>
            <a:ext cx="1993005" cy="183436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790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Gets targeting &amp; ad copy</a:t>
            </a:r>
            <a:endParaRPr lang="en-US" sz="790" dirty="0"/>
          </a:p>
        </p:txBody>
      </p:sp>
      <p:sp>
        <p:nvSpPr>
          <p:cNvPr id="51" name="Text 48"/>
          <p:cNvSpPr/>
          <p:nvPr/>
        </p:nvSpPr>
        <p:spPr>
          <a:xfrm>
            <a:off x="8415656" y="4993614"/>
            <a:ext cx="1993005" cy="183436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790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Gets landing page URLs</a:t>
            </a:r>
            <a:endParaRPr lang="en-US" sz="790" dirty="0"/>
          </a:p>
        </p:txBody>
      </p:sp>
      <p:sp>
        <p:nvSpPr>
          <p:cNvPr id="52" name="Text 49"/>
          <p:cNvSpPr/>
          <p:nvPr/>
        </p:nvSpPr>
        <p:spPr>
          <a:xfrm>
            <a:off x="372524" y="6637867"/>
            <a:ext cx="1056403" cy="14732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750" b="1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Recruiter / Designer</a:t>
            </a:r>
            <a:endParaRPr lang="en-US" sz="750" dirty="0"/>
          </a:p>
        </p:txBody>
      </p:sp>
      <p:sp>
        <p:nvSpPr>
          <p:cNvPr id="53" name="Text 50"/>
          <p:cNvSpPr/>
          <p:nvPr/>
        </p:nvSpPr>
        <p:spPr>
          <a:xfrm>
            <a:off x="1552536" y="6637867"/>
            <a:ext cx="1029416" cy="14732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750" b="1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Marketing Manager</a:t>
            </a:r>
            <a:endParaRPr lang="en-US" sz="750" dirty="0"/>
          </a:p>
        </p:txBody>
      </p:sp>
      <p:sp>
        <p:nvSpPr>
          <p:cNvPr id="54" name="Text 51"/>
          <p:cNvSpPr/>
          <p:nvPr/>
        </p:nvSpPr>
        <p:spPr>
          <a:xfrm>
            <a:off x="2705562" y="6637867"/>
            <a:ext cx="980734" cy="14732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750" b="1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Notification / Gate</a:t>
            </a:r>
            <a:endParaRPr lang="en-US" sz="750" dirty="0"/>
          </a:p>
        </p:txBody>
      </p:sp>
      <p:sp>
        <p:nvSpPr>
          <p:cNvPr id="55" name="Text 52"/>
          <p:cNvSpPr/>
          <p:nvPr/>
        </p:nvSpPr>
        <p:spPr>
          <a:xfrm>
            <a:off x="3809905" y="6637867"/>
            <a:ext cx="523942" cy="14732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750" b="1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Agency</a:t>
            </a:r>
            <a:endParaRPr lang="en-US" sz="750" dirty="0"/>
          </a:p>
        </p:txBody>
      </p:sp>
      <p:sp>
        <p:nvSpPr>
          <p:cNvPr id="56" name="Text 53"/>
          <p:cNvSpPr/>
          <p:nvPr/>
        </p:nvSpPr>
        <p:spPr>
          <a:xfrm>
            <a:off x="9937502" y="6637867"/>
            <a:ext cx="1588731" cy="14732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750" dirty="0">
                <a:solidFill>
                  <a:srgbClr val="B0B8C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Nova Creative Operations · OneForma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Nova Workflow Maps — OneForma</dc:title>
  <dc:subject>PptxGenJS Presentation</dc:subject>
  <dc:creator>Nova Creative Operations</dc:creator>
  <cp:lastModifiedBy>Nova Creative Operations</cp:lastModifiedBy>
  <cp:revision>1</cp:revision>
  <dcterms:created xsi:type="dcterms:W3CDTF">2026-04-13T17:39:57Z</dcterms:created>
  <dcterms:modified xsi:type="dcterms:W3CDTF">2026-04-13T17:39:57Z</dcterms:modified>
</cp:coreProperties>
</file>